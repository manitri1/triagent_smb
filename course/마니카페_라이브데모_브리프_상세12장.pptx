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TRIAGENT_SMB · LIVE DEMO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201A29"/>
                </a:solidFill>
                <a:latin typeface="맑은 고딕"/>
                <a:ea typeface="맑은 고딕"/>
              </a:rPr>
              <a:t>마니카페 “사장님의 하루”</a:t>
            </a:r>
          </a:p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라이브 데모 브리프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6F6580"/>
                </a:solidFill>
                <a:latin typeface="맑은 고딕"/>
                <a:ea typeface="맑은 고딕"/>
              </a:rPr>
              <a:t>coordinator + 6개 전담 에이전트가 하루 12개 접점을 처리하는 라이브 데모를, 요청 사항 → 기대 응답 → 제안 순서로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 i="0">
                <a:solidFill>
                  <a:srgbClr val="201A29"/>
                </a:solidFill>
                <a:latin typeface="맑은 고딕"/>
                <a:ea typeface="맑은 고딕"/>
              </a:rPr>
              <a:t>대상 매장: 마니카페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80844" y="4892040"/>
            <a:ext cx="3209544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 i="0">
                <a:solidFill>
                  <a:srgbClr val="201A29"/>
                </a:solidFill>
                <a:latin typeface="맑은 고딕"/>
                <a:ea typeface="맑은 고딕"/>
              </a:rPr>
              <a:t>기준 문서: docs/21-live-demo-plan.md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4980" y="4892040"/>
            <a:ext cx="1577339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 i="0">
                <a:solidFill>
                  <a:srgbClr val="201A29"/>
                </a:solidFill>
                <a:latin typeface="맑은 고딕"/>
                <a:ea typeface="맑은 고딕"/>
              </a:rPr>
              <a:t>정리일: 2026-09-11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01A29"/>
                </a:solidFill>
                <a:latin typeface="맑은 고딕"/>
                <a:ea typeface="맑은 고딕"/>
              </a:rPr>
              <a:t>같은 하루, 다른 부담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하루 타임라인 접점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614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사장님 승인이 필요한 HITL 게이트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011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5B3DF0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614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6580"/>
                </a:solidFill>
                <a:latin typeface="맑은 고딕"/>
                <a:ea typeface="맑은 고딕"/>
              </a:rPr>
              <a:t>coordinator + 전담 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66160"/>
            <a:ext cx="10515600" cy="2011680"/>
          </a:xfrm>
          <a:prstGeom prst="roundRect">
            <a:avLst>
              <a:gd name="adj" fmla="val 6000"/>
            </a:avLst>
          </a:prstGeom>
          <a:solidFill>
            <a:srgbClr val="FB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22192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9C5A17"/>
                </a:solidFill>
                <a:latin typeface="맑은 고딕"/>
                <a:ea typeface="맑은 고딕"/>
              </a:rPr>
              <a:t>실측 전 브리프입니다.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이 문서의 “응답 내용”은 컨테이너 환경에서 실제로 12개를 눌러본 결과가 아니라, 설계 의도와 course/마니카페_사장님의_하루.md의 기대 시나리오를 근거로 정리했습니다. 리허설(docs/21 P4)을 마친 뒤 실제 응답 텍스트로 이 문서를 갱신하는 것을 권장합니다.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01A29"/>
                </a:solidFill>
                <a:latin typeface="맑은 고딕"/>
                <a:ea typeface="맑은 고딕"/>
              </a:rPr>
              <a:t>12개 장면, 하루 타임라인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05:30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76479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01  아침 브리핑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02082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매출 파악 어려움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41448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3288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06:30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51460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02  재고 스냅샷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7706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91256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826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07:00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26440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03  예약 응대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352044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문의 응대 지연·누락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41064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32504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09:10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0142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04  [게이트2] 결품 발견 + 발주 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27024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i="0">
                <a:solidFill>
                  <a:srgbClr val="A13A24"/>
                </a:solidFill>
                <a:latin typeface="맑은 고딕"/>
                <a:ea typeface="맑은 고딕"/>
              </a:rPr>
              <a:t>승인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90872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782312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11:20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76402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05  단체 문의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502005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문의 응대 지연·누락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53212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55138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06  [게이트3] 결제/환불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576986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시간 부족·1인 다역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64184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i="0">
                <a:solidFill>
                  <a:srgbClr val="A13A24"/>
                </a:solidFill>
                <a:latin typeface="맑은 고딕"/>
                <a:ea typeface="맑은 고딕"/>
              </a:rPr>
              <a:t>승인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691640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178308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14:30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76479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07  “오늘 매출 어때?”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02082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매출 파악 어려움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441448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2532888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15:30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51460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08  [게이트1] 홍보 초안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7706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마케팅 여력 부족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26426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 i="0">
                <a:solidFill>
                  <a:srgbClr val="A13A24"/>
                </a:solidFill>
                <a:latin typeface="맑은 고딕"/>
                <a:ea typeface="맑은 고딕"/>
              </a:rPr>
              <a:t>승인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191256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28269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17:10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26440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09  컴플레인 응대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52044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번아웃·감정노동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941064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4032504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19:40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01421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10  마감 정산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27024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시간 부족·1인 다역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690872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2" y="4782312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21:00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76402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11  다음날 브리핑 초안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020056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5440680"/>
            <a:ext cx="50749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553212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5B3DF0"/>
                </a:solidFill>
                <a:latin typeface="Consolas"/>
                <a:ea typeface="Consolas"/>
              </a:rPr>
              <a:t>23:00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5138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01A29"/>
                </a:solidFill>
                <a:latin typeface="맑은 고딕"/>
                <a:ea typeface="맑은 고딕"/>
              </a:rPr>
              <a:t>12  승인 대기 3건 확인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76986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F6580"/>
                </a:solidFill>
                <a:latin typeface="맑은 고딕"/>
                <a:ea typeface="맑은 고딕"/>
              </a:rPr>
              <a:t>번아웃·감정노동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05:30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아침 브리핑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001268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매출 파악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· 실제 채널 Discord #smb-ops (텍스트 요약, POS 호출 없음)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오늘 아침 브리핑 정리해줘.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야간에 정리해둔 브리핑을 요약해 답한다 — 재고 알림 1건, 예약 2건, 대기 중 승인 0건처럼 숫자로 요약된 하루 시작 상태.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cron 자동 발송은 아직 설정·검증 전입니다 — "매일 직접 요청하지 않아도 되는 최종 형태"로 다음 단계에 제안하세요.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06:30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재고 스냅샷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inventory-agent · webapp 재고 관리 화면(읽기 전용, 프롬프트 없음)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(프롬프트 없음 — /inventory 화면 새로고침)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새벽에 POS 스냅샷을 대조해 정리해둔 재고 현황표(품목·재고·임계치)를 그대로 보여준다. 사장님은 수첩 대신 카드를 훑어보기만 하면 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저재고 임계치를 넘긴 품목이 자동으로 배지 강조되는 부분을 발표 중 직접 가리키면 설득력이 커집니다.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07:00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예약 응대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문의 응대 지연·누락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reservation-agent · webapp 예약 관리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방금 전화로 예약 문의가 왔어요. 오늘 오후 6시 4명 예약 등록해주세요.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전화 응대는 사람이 받고, 접수 내용을 한 줄 입력하면 reservation-agent가 즉시 예약을 등록하며 coordinator는 새로 잡힌 예약만 알림으로 띄운다.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"전화받다 손이 묶여 두 통을 놓친다"는 기존 방식과 직접 대비하되, 음성 인식은 아직 없다는 한계도 함께 고지하세요.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09:10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[게이트2] 결품 발견 + 발주 초안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385316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A13A24"/>
                </a:solidFill>
                <a:latin typeface="맑은 고딕"/>
                <a:ea typeface="맑은 고딕"/>
              </a:rPr>
              <a:t>발주 15만원 초과 승인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1628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inventory-agent · webapp 재고 관리 화면 또는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다음 품목 재입고를 요청합니다: 아메리카노 50개. 사유: 원두 완전 품절, 긴급 대량 재입고 필요.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발주 초안과 공급사 견적 요청 문구를 준비해두지만, 금액이 승인 임계값(15만원)을 넘어 사장님 승인 전까지 실제 발주를 진행하지 않고 멈춘다.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"느린 게 아니라 여기서 멈추는 게 의도"라는 점이 핵심 포인트입니다 — 공급사 견적 API가 없어 Gmail 초안까지만 만든다는 점도 정직하게 언급하세요.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단체 문의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문의 응대 지연·누락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customer-service-agent · webapp 고객 문의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20인분 단체 주문인데 오늘 오후 3시 픽업 가능할까요?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웹 고객문의 창구로 들어온 메뉴·픽업 가능 시간 문의에 즉시 답하고, 특이 요청만 coordinator에게 넘긴다.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고객 문의는 mock-pos에 별도로 기록되지 않는 한계가 있습니다 — 필요하면 문의 이력 저장을 다음 백로그로 제안하세요.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[게이트3] 결제/환불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A13A24"/>
                </a:solidFill>
                <a:latin typeface="맑은 고딕"/>
                <a:ea typeface="맑은 고딕"/>
              </a:rPr>
              <a:t>환불·고액 결제 승인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89604" y="137160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시간 부족·1인 다역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order-payment-agent · webapp 주문 접수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라떼 2잔, 아메리카노 1잔 주문 들어왔어, 결제까지 처리해줘.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주문 생성 → 가격·재고 검증 → 결제까지 한 번에 처리한다. 2026-09-04 실측에서 실제로 mock-pos에 COMPLETED로 반영되고 매출에도 합산되는 것까지 확인됐다.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이미 실측 검증된 시나리오이므로, "결과 확인" 패널(최근 주문 표)을 그 자리에서 새로고침해 실시간 반영을 보여주는 하이라이트로 추천합니다.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14:30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“오늘 매출 어때?”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001268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매출 파악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sales-analytics-agent · CLI 또는 대시보드(:19128) /chat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오늘 매출 어때?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시간대별 매출과 잘 나간 메뉴를 즉시 정리해 답한다 — 엑셀로 옮기다 손님이 와서 미루던 작업이 한 줄 질문으로 끝난다.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"결과 확인" 패널의 오늘 매출 총액·주문 건수를 채팅 응답과 동시에 띄우면 답변의 신뢰도를 바로 확인시킬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15:30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[게이트1] 홍보 초안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A13A24"/>
                </a:solidFill>
                <a:latin typeface="맑은 고딕"/>
                <a:ea typeface="맑은 고딕"/>
              </a:rPr>
              <a:t>홍보 집행 승인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371600"/>
            <a:ext cx="1001268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마케팅 여력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marketing-crm-agent · CLI 또는 대시보드 /chat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단호박 라떼 홍보 문구 초안 써줘.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홍보 문구 초안을 작성해 승인을 요청한다. marketing-crm-agent에는 게시 기능(messaging 툴) 자체가 없어, 승인 후에도 게시는 사장님이 직접 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"권한이 없어서 우회가 구조적으로 불가능하다"는 설계를 짚는 장면입니다 — 광고 플랫폼 자동 게시 연동은 다음 로드맵으로 제안하세요.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17:10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컴플레인 응대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번아웃·감정노동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customer-service-agent · webapp 고객 문의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아까 주문한 라떼가 다른 음료로 잘못 나왔어요.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먼저 사과와 재제조 안내를 하고 기록을 남긴다. 민감한 건만 요약해 사장님에게 전달해 감정적으로 소모되는 통화를 줄인다.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사장님이 직접 전화를 받아 사과하던 기존 장면과 구두로 대비시키면, 번아웃 완화 가치가 숫자 없이도 잘 전달됩니다.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19:40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마감 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1193292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시간 부족·1인 다역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→ sales-analytics-agent · mock-pos 대시보드(:18080/dashboard) + CLI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오늘 마감 리포트 정리해줘.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POS·카드단말기·현금을 손으로 대조하던 작업 없이, 정산은 POS에서 그대로 처리되고 마감 리포트가 자동으로 정리되어 기다리고 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"결과 확인" 패널의 총매출·결제 건수·환불 건수를 mock-pos 대시보드 차트와 함께 보여주는, 12개 중 시각적 임팩트가 가장 큰 지점입니다.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21:00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다음날 브리핑 초안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재고 관리 부담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· 실제 채널 Discord 또는 CLI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내일 아침 브리핑 초안 써줘.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재고 알림, 예약 현황, 승인 대기 건을 한 장으로 정리한 다음 날 브리핑 초안을 준비한다 — 05:30 장면과 대칭을 이룬다.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cron 자동화가 검증되면 사장님이 요청조차 하지 않아도 되는 최종 목표 상태라는 점을 마무리 전 멘트로 언급하기 좋습니다.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SCENE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5B3DF0"/>
                </a:solidFill>
                <a:latin typeface="Consolas"/>
                <a:ea typeface="Consolas"/>
              </a:rPr>
              <a:t>23:00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8229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승인 대기 3건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71600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6F6580"/>
                </a:solidFill>
                <a:latin typeface="맑은 고딕"/>
                <a:ea typeface="맑은 고딕"/>
              </a:rPr>
              <a:t>번아웃·감정노동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6F6580"/>
                </a:solidFill>
                <a:latin typeface="맑은 고딕"/>
                <a:ea typeface="맑은 고딕"/>
              </a:rPr>
              <a:t>담당/채널  </a:t>
            </a:r>
            <a:r>
              <a:rPr sz="1100" b="0" i="0">
                <a:solidFill>
                  <a:srgbClr val="201A29"/>
                </a:solidFill>
                <a:latin typeface="맑은 고딕"/>
                <a:ea typeface="맑은 고딕"/>
              </a:rPr>
              <a:t>coordinator · 실제 채널 Discord #smb-ops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109728" cy="960120"/>
          </a:xfrm>
          <a:prstGeom prst="rect">
            <a:avLst/>
          </a:prstGeom>
          <a:solidFill>
            <a:srgbClr val="9C5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9C5A17"/>
                </a:solidFill>
                <a:latin typeface="맑은 고딕"/>
                <a:ea typeface="맑은 고딕"/>
              </a:rPr>
              <a:t>요청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99669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01A29"/>
                </a:solidFill>
                <a:latin typeface="Consolas"/>
                <a:ea typeface="Consolas"/>
              </a:rPr>
              <a:t>오늘 승인 대기 중인 항목 정리해줘.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109728" cy="1417320"/>
          </a:xfrm>
          <a:prstGeom prst="rect">
            <a:avLst/>
          </a:prstGeom>
          <a:solidFill>
            <a:srgbClr val="452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응답 내용 · 기대 응답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4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디스코드에 쌓인 하루치 승인 대기 항목(발주·결제·홍보)을 한 번에 정리해 보여준다 — 이미 온 메시지를 읽고 승인/거부만 하면 되어 실행 리스크가 가장 낮다.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109728" cy="1417320"/>
          </a:xfrm>
          <a:prstGeom prst="rect">
            <a:avLst/>
          </a:prstGeom>
          <a:solidFill>
            <a:srgbClr val="1F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F6E4F"/>
                </a:solidFill>
                <a:latin typeface="맑은 고딕"/>
                <a:ea typeface="맑은 고딕"/>
              </a:rPr>
              <a:t>제안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9966960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01A29"/>
                </a:solidFill>
                <a:latin typeface="맑은 고딕"/>
                <a:ea typeface="맑은 고딕"/>
              </a:rPr>
              <a:t>"이걸 확인하고 끄면 하루가 끝난다"는 문장으로 발표를 닫는 클로징 장면으로 적합합니다.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01A29"/>
                </a:solidFill>
                <a:latin typeface="맑은 고딕"/>
                <a:ea typeface="맑은 고딕"/>
              </a:rPr>
              <a:t>coordinator + 6개 전담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6F6580"/>
                </a:solidFill>
                <a:latin typeface="맑은 고딕"/>
                <a:ea typeface="맑은 고딕"/>
              </a:rPr>
              <a:t>각자 하나의 역할만 맡아 profile 단위로 격리되어 동작합니다.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coordinator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5740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하루 전체를 조율하고, 승인이 필요한 순간에만 사장님을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33472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order-payment-agent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3347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주문·결제 처리, 환불·고액 결제 승인 게이트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9544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9544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inventory-agent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09544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재고 모니터링, 발주 초안 작성과 공급사 견적 요청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85616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85616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reservation-agent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85616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예약 접수와 일정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61688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61688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customer-service-agent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361688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고객 문의·불만 응대, FAQ 자동 응답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937760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sales-analytics-agent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3776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매출 집계와 마감 리포트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513832"/>
            <a:ext cx="10515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13832"/>
            <a:ext cx="2743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5B3DF0"/>
                </a:solidFill>
                <a:latin typeface="Consolas"/>
                <a:ea typeface="Consolas"/>
              </a:rPr>
              <a:t>marketing-crm-agent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51383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201A29"/>
                </a:solidFill>
                <a:latin typeface="맑은 고딕"/>
                <a:ea typeface="맑은 고딕"/>
              </a:rPr>
              <a:t>홍보 문구·프로모션 초안, 캠페인 집행 승인 게이트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3931920"/>
          </a:xfrm>
          <a:prstGeom prst="roundRect">
            <a:avLst>
              <a:gd name="adj" fmla="val 6000"/>
            </a:avLst>
          </a:prstGeom>
          <a:solidFill>
            <a:srgbClr val="EC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4527D1"/>
                </a:solidFill>
                <a:latin typeface="맑은 고딕"/>
                <a:ea typeface="맑은 고딕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201A29"/>
                </a:solidFill>
                <a:latin typeface="맑은 고딕"/>
                <a:ea typeface="맑은 고딕"/>
              </a:rPr>
              <a:t>결정권은 사장님에게, 반복 노동만 에이전트에게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9784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0" i="1">
                <a:solidFill>
                  <a:srgbClr val="201A29"/>
                </a:solidFill>
                <a:latin typeface="맑은 고딕"/>
                <a:ea typeface="맑은 고딕"/>
              </a:rPr>
              <a:t>“기존 방식에서는 사장님이 12개 접점을 전부 직접 처리했지만, 오늘 본 방식에서는 9곳을 에이전트가 먼저 처리해두고, 돈이 오가거나 손님에게 나가는 3곳만 사장님이 최종 승인합니다. 자동화가 결정권을 가져가는 게 아니라, 결정에 이르기까지의 반복 노동만 덜어내는 구조입니다.”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마니카페 · 사장님의 하루 · 라이브 데모 브리프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F65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