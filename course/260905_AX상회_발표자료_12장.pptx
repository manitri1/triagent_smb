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11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A513BC-698D-B327-60D0-E0E26F1EA3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6440925-8F55-B5D3-0255-DF344E84B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4D6924-3D1A-86BA-2323-97EDD8081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40C51-1F25-4EB1-9A56-C4F5488BC6C6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3C4629-735E-69D1-26D6-2B8AA901F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EE579A-A34E-38A2-CE22-778FCA995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2B9D-E570-45FA-ACB9-C0D5D3C1F8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021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B4D985-BE0A-CB94-5C3D-0FE8E6CE4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F989CC-E61E-ED20-02A1-14A45F301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E79CA8-F1EE-7C6F-AD7D-75C61D8AD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40C51-1F25-4EB1-9A56-C4F5488BC6C6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FCD71E-E700-A1AF-15E6-9AAC9655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B3302C-E5DE-DC7E-2DAB-763D62687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2B9D-E570-45FA-ACB9-C0D5D3C1F8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066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12A329-595C-566F-E3AC-A6C5B273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3C3B5D-EE61-255D-3F3E-994B91186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011446-E1BF-754E-B038-76C6D4545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40C51-1F25-4EB1-9A56-C4F5488BC6C6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571790-CAE2-8848-52E9-22E53CF54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8453F5-E840-4A1E-E930-32FD9C130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2B9D-E570-45FA-ACB9-C0D5D3C1F8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958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27911C-1BAB-207A-07F7-ACAD7EDB4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CA6CBF-0B00-E81E-113F-FB302BC5D5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2AAA16-6CDE-21A5-8A4E-E705038D4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37F4BD-EA81-CD39-2B7A-783C3F56E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40C51-1F25-4EB1-9A56-C4F5488BC6C6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B0AC6B-AAED-6DFF-F7D6-3BC17888E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FDFB56-07FC-7A7C-E962-333EA33F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2B9D-E570-45FA-ACB9-C0D5D3C1F8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9858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515C68-FB0B-3B98-A037-E687209E9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1C81FE-C83C-484F-BEF5-24D21E1C6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915DCE-97EC-C53D-9A45-7412F139B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EBC554C-B735-9A5F-168B-03FD6CFF7C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91A4FCD-C146-F396-5502-AD234D490A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07B3BEE-C0C5-5BFC-8BDF-D9304FCF9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40C51-1F25-4EB1-9A56-C4F5488BC6C6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2361589-2511-55EE-D611-2EF607083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E4B7CA1-E545-79FD-14BD-AB9DA84F0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2B9D-E570-45FA-ACB9-C0D5D3C1F8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7505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2C98D2-AE88-1026-BEDE-EAD96707B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EE71AF3-AE69-306D-19D6-78AB5BB20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40C51-1F25-4EB1-9A56-C4F5488BC6C6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10A00DC-A4FA-12FC-F6F7-471D4C641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8DD3EF-0C7B-41C8-CD61-A9F8D8806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2B9D-E570-45FA-ACB9-C0D5D3C1F8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442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CB0A8F-62F1-E56D-2072-2841799DB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40C51-1F25-4EB1-9A56-C4F5488BC6C6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97711E1-0F51-E005-1461-7777C3029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AE4F62-083D-B2CC-177C-C41AA3D4F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2B9D-E570-45FA-ACB9-C0D5D3C1F8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733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500D7D-438E-E293-BE11-051CF51A6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A555F1-B82E-80EC-6690-EA13F26FE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FEA7A7-1459-BA86-2372-94D8CFCBCC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B67B3F-BF47-E960-2533-B125DB771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40C51-1F25-4EB1-9A56-C4F5488BC6C6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D4912C-8263-B06A-3406-05D3307C6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03AFCE-0A9E-2A48-7985-4E7E0476F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2B9D-E570-45FA-ACB9-C0D5D3C1F8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563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31BC45-CDAC-0700-8250-678D1D82C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619BC50-6604-FCDB-CDDE-7341593790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21A994F-15D0-4E6E-898F-B35C3D969D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761A5B-E155-9D43-20B8-80902BDDB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40C51-1F25-4EB1-9A56-C4F5488BC6C6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C34B3F-5327-483E-7F44-7593C91B5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3FF818-E073-A92A-D49E-31B206CD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2B9D-E570-45FA-ACB9-C0D5D3C1F8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313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E71F50-DD20-E01F-6B54-34D7E23CB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8FC9ED-4672-9DFB-5853-AA9990F41F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947E47-F5B4-31A1-FEC4-83264464C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40C51-1F25-4EB1-9A56-C4F5488BC6C6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841777-9F22-F923-BE2C-8669315A2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EB77C7-DDEC-788A-5243-B08970A8B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2B9D-E570-45FA-ACB9-C0D5D3C1F8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86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9EC90D7-0A7E-A4C8-9909-33B107F880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EFF192-59E9-FA56-30BF-336C87AEA9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35A164-D313-372F-0914-C133C18BE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40C51-1F25-4EB1-9A56-C4F5488BC6C6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9240F4-B88A-A23B-0A7F-F83D51B3F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537D90-7D99-D5BA-C653-3ABCFC01C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2B9D-E570-45FA-ACB9-C0D5D3C1F8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06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27F7C92-F94A-BF16-827E-E66F012BF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E76810-3E80-4AB3-6662-20272D19C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D439EA-815C-B6E2-3980-5FB0C42E5A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40C51-1F25-4EB1-9A56-C4F5488BC6C6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C203E2-2869-7EE0-C95E-443C5A209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21F923-F932-C665-6735-D057B24E0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92B9D-E570-45FA-ACB9-C0D5D3C1F8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28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B4BB97E-6FEA-642D-C02F-4042A97641FF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oundRect">
            <a:avLst/>
          </a:prstGeom>
          <a:solidFill>
            <a:srgbClr val="B222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C474EC-DDE4-2600-7E6F-83DFE7C83891}"/>
              </a:ext>
            </a:extLst>
          </p:cNvPr>
          <p:cNvSpPr txBox="1"/>
          <p:nvPr/>
        </p:nvSpPr>
        <p:spPr>
          <a:xfrm>
            <a:off x="508000" y="24130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4600" b="1">
                <a:solidFill>
                  <a:srgbClr val="B22234"/>
                </a:solidFill>
                <a:latin typeface="맑은 고딕" panose="020B0503020000020004" pitchFamily="50" charset="-127"/>
              </a:rPr>
              <a:t>AI </a:t>
            </a:r>
            <a:r>
              <a:rPr lang="ko-KR" altLang="en-US" sz="4600" b="1">
                <a:solidFill>
                  <a:srgbClr val="B22234"/>
                </a:solidFill>
                <a:latin typeface="맑은 고딕" panose="020B0503020000020004" pitchFamily="50" charset="-127"/>
              </a:rPr>
              <a:t>운영</a:t>
            </a:r>
            <a:r>
              <a:rPr lang="en-US" altLang="ko-KR" sz="4600" b="1">
                <a:solidFill>
                  <a:srgbClr val="B22234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4600" b="1">
                <a:solidFill>
                  <a:srgbClr val="B22234"/>
                </a:solidFill>
                <a:latin typeface="맑은 고딕" panose="020B0503020000020004" pitchFamily="50" charset="-127"/>
              </a:rPr>
              <a:t>대신 해드립니다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854C51-DC1A-24A6-2664-1121B117BC62}"/>
              </a:ext>
            </a:extLst>
          </p:cNvPr>
          <p:cNvSpPr txBox="1"/>
          <p:nvPr/>
        </p:nvSpPr>
        <p:spPr>
          <a:xfrm>
            <a:off x="508000" y="38100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2600">
                <a:solidFill>
                  <a:srgbClr val="1E1E1E"/>
                </a:solidFill>
                <a:latin typeface="맑은 고딕" panose="020B0503020000020004" pitchFamily="50" charset="-127"/>
              </a:rPr>
              <a:t>AX </a:t>
            </a:r>
            <a:r>
              <a:rPr lang="ko-KR" altLang="en-US" sz="2600">
                <a:solidFill>
                  <a:srgbClr val="1E1E1E"/>
                </a:solidFill>
                <a:latin typeface="맑은 고딕" panose="020B0503020000020004" pitchFamily="50" charset="-127"/>
              </a:rPr>
              <a:t>상회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439201-78BB-4EB8-5E63-5A0B27AE3707}"/>
              </a:ext>
            </a:extLst>
          </p:cNvPr>
          <p:cNvSpPr txBox="1"/>
          <p:nvPr/>
        </p:nvSpPr>
        <p:spPr>
          <a:xfrm>
            <a:off x="508000" y="4699000"/>
            <a:ext cx="11176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1300" i="1">
                <a:solidFill>
                  <a:srgbClr val="787878"/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300" i="1">
                <a:solidFill>
                  <a:srgbClr val="787878"/>
                </a:solidFill>
                <a:latin typeface="맑은 고딕" panose="020B0503020000020004" pitchFamily="50" charset="-127"/>
              </a:rPr>
              <a:t>팀 이름</a:t>
            </a:r>
            <a:r>
              <a:rPr lang="en-US" altLang="ko-KR" sz="1300" i="1">
                <a:solidFill>
                  <a:srgbClr val="787878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300" i="1">
                <a:solidFill>
                  <a:srgbClr val="787878"/>
                </a:solidFill>
                <a:latin typeface="맑은 고딕" panose="020B0503020000020004" pitchFamily="50" charset="-127"/>
              </a:rPr>
              <a:t>워크시트에 없음</a:t>
            </a:r>
            <a:r>
              <a:rPr lang="en-US" altLang="ko-KR" sz="1300" i="1">
                <a:solidFill>
                  <a:srgbClr val="787878"/>
                </a:solidFill>
                <a:latin typeface="맑은 고딕" panose="020B0503020000020004" pitchFamily="50" charset="-127"/>
              </a:rPr>
              <a:t>]</a:t>
            </a:r>
            <a:endParaRPr lang="ko-KR" altLang="en-US" sz="1300" i="1">
              <a:solidFill>
                <a:srgbClr val="78787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EEF9E6-C0C5-CE50-D70D-91288349DE18}"/>
              </a:ext>
            </a:extLst>
          </p:cNvPr>
          <p:cNvSpPr txBox="1"/>
          <p:nvPr/>
        </p:nvSpPr>
        <p:spPr>
          <a:xfrm>
            <a:off x="508000" y="6350000"/>
            <a:ext cx="10541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출처</a:t>
            </a:r>
            <a:r>
              <a:rPr lang="en-US" altLang="ko-KR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워크시트 표</a:t>
            </a:r>
            <a:r>
              <a:rPr lang="en-US" altLang="ko-KR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68 (15</a:t>
            </a:r>
            <a:r>
              <a:rPr lang="ko-KR" altLang="en-US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자 태그라인</a:t>
            </a:r>
            <a:r>
              <a:rPr lang="en-US" altLang="ko-KR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)</a:t>
            </a:r>
            <a:endParaRPr lang="ko-KR" altLang="en-US" sz="1100" i="1">
              <a:solidFill>
                <a:srgbClr val="78787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8393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30C0AA-5A39-A25E-21ED-B84AD2B6EBDC}"/>
              </a:ext>
            </a:extLst>
          </p:cNvPr>
          <p:cNvSpPr txBox="1"/>
          <p:nvPr/>
        </p:nvSpPr>
        <p:spPr>
          <a:xfrm>
            <a:off x="508000" y="444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800" b="1">
                <a:solidFill>
                  <a:srgbClr val="1E1E1E"/>
                </a:solidFill>
                <a:latin typeface="맑은 고딕" panose="020B0503020000020004" pitchFamily="50" charset="-127"/>
              </a:rPr>
              <a:t>포항 소상공인은 도구가 없어서가 아니라 운영할 시간이 없어 막힌다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6569C92-B8E6-3F9A-4DAE-4F5B8B369B03}"/>
              </a:ext>
            </a:extLst>
          </p:cNvPr>
          <p:cNvSpPr/>
          <p:nvPr/>
        </p:nvSpPr>
        <p:spPr>
          <a:xfrm>
            <a:off x="508000" y="2032000"/>
            <a:ext cx="11176000" cy="1397000"/>
          </a:xfrm>
          <a:prstGeom prst="round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i="1">
                <a:solidFill>
                  <a:srgbClr val="5A5A5A"/>
                </a:solidFill>
                <a:latin typeface="맑은 고딕" panose="020B0503020000020004" pitchFamily="50" charset="-127"/>
              </a:rPr>
              <a:t>"[</a:t>
            </a:r>
            <a:r>
              <a:rPr lang="ko-KR" altLang="en-US" i="1">
                <a:solidFill>
                  <a:srgbClr val="5A5A5A"/>
                </a:solidFill>
                <a:latin typeface="맑은 고딕" panose="020B0503020000020004" pitchFamily="50" charset="-127"/>
              </a:rPr>
              <a:t>워크시트에 없음 </a:t>
            </a:r>
            <a:r>
              <a:rPr lang="en-US" altLang="ko-KR" i="1">
                <a:solidFill>
                  <a:srgbClr val="5A5A5A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i="1">
                <a:solidFill>
                  <a:srgbClr val="5A5A5A"/>
                </a:solidFill>
                <a:latin typeface="맑은 고딕" panose="020B0503020000020004" pitchFamily="50" charset="-127"/>
              </a:rPr>
              <a:t>실제 인터뷰 인용문 미확보</a:t>
            </a:r>
            <a:r>
              <a:rPr lang="en-US" altLang="ko-KR" i="1">
                <a:solidFill>
                  <a:srgbClr val="5A5A5A"/>
                </a:solidFill>
                <a:latin typeface="맑은 고딕" panose="020B0503020000020004" pitchFamily="50" charset="-127"/>
              </a:rPr>
              <a:t>]"</a:t>
            </a:r>
            <a:endParaRPr lang="ko-KR" altLang="en-US" i="1">
              <a:solidFill>
                <a:srgbClr val="5A5A5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3891E70-DB5E-11CA-6A20-BE095A78E162}"/>
              </a:ext>
            </a:extLst>
          </p:cNvPr>
          <p:cNvSpPr/>
          <p:nvPr/>
        </p:nvSpPr>
        <p:spPr>
          <a:xfrm>
            <a:off x="508000" y="3810000"/>
            <a:ext cx="11176000" cy="1651000"/>
          </a:xfrm>
          <a:prstGeom prst="roundRect">
            <a:avLst/>
          </a:prstGeom>
          <a:solidFill>
            <a:srgbClr val="FAEB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b="1">
                <a:solidFill>
                  <a:srgbClr val="B22234"/>
                </a:solidFill>
                <a:latin typeface="맑은 고딕" panose="020B0503020000020004" pitchFamily="50" charset="-127"/>
              </a:rPr>
              <a:t>노쇼율 </a:t>
            </a:r>
            <a:r>
              <a:rPr lang="en-US" altLang="ko-KR" sz="4000" b="1">
                <a:solidFill>
                  <a:srgbClr val="B22234"/>
                </a:solidFill>
                <a:latin typeface="맑은 고딕" panose="020B0503020000020004" pitchFamily="50" charset="-127"/>
              </a:rPr>
              <a:t>20% → 12%</a:t>
            </a:r>
            <a:endParaRPr lang="ko-KR" altLang="en-US" sz="4000" b="1">
              <a:solidFill>
                <a:srgbClr val="B2223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E24B24-2449-E97B-A8CD-DDE2466EFABC}"/>
              </a:ext>
            </a:extLst>
          </p:cNvPr>
          <p:cNvSpPr txBox="1"/>
          <p:nvPr/>
        </p:nvSpPr>
        <p:spPr>
          <a:xfrm>
            <a:off x="508000" y="5334000"/>
            <a:ext cx="11176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1300" i="1">
                <a:solidFill>
                  <a:srgbClr val="787878"/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300" i="1">
                <a:solidFill>
                  <a:srgbClr val="787878"/>
                </a:solidFill>
                <a:latin typeface="맑은 고딕" panose="020B0503020000020004" pitchFamily="50" charset="-127"/>
              </a:rPr>
              <a:t>사업계획서 예시</a:t>
            </a:r>
            <a:r>
              <a:rPr lang="en-US" altLang="ko-KR" sz="1300" i="1">
                <a:solidFill>
                  <a:srgbClr val="787878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 i="1">
                <a:solidFill>
                  <a:srgbClr val="787878"/>
                </a:solidFill>
                <a:latin typeface="맑은 고딕" panose="020B0503020000020004" pitchFamily="50" charset="-127"/>
              </a:rPr>
              <a:t>실측 아님</a:t>
            </a:r>
            <a:r>
              <a:rPr lang="en-US" altLang="ko-KR" sz="1300" i="1">
                <a:solidFill>
                  <a:srgbClr val="787878"/>
                </a:solidFill>
                <a:latin typeface="맑은 고딕" panose="020B0503020000020004" pitchFamily="50" charset="-127"/>
              </a:rPr>
              <a:t>]</a:t>
            </a:r>
            <a:endParaRPr lang="ko-KR" altLang="en-US" sz="1300" i="1">
              <a:solidFill>
                <a:srgbClr val="78787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A2A14F-5952-32E6-D084-F65046F275AB}"/>
              </a:ext>
            </a:extLst>
          </p:cNvPr>
          <p:cNvSpPr txBox="1"/>
          <p:nvPr/>
        </p:nvSpPr>
        <p:spPr>
          <a:xfrm>
            <a:off x="508000" y="6350000"/>
            <a:ext cx="10541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출처</a:t>
            </a:r>
            <a:r>
              <a:rPr lang="en-US" altLang="ko-KR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워크시트 표</a:t>
            </a:r>
            <a:r>
              <a:rPr lang="en-US" altLang="ko-KR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16(R3), </a:t>
            </a:r>
            <a:r>
              <a:rPr lang="ko-KR" altLang="en-US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표</a:t>
            </a:r>
            <a:r>
              <a:rPr lang="en-US" altLang="ko-KR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88</a:t>
            </a:r>
            <a:endParaRPr lang="ko-KR" altLang="en-US" sz="1100" i="1">
              <a:solidFill>
                <a:srgbClr val="78787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9AB66F-269C-B2D5-130E-5F9ABACE91A3}"/>
              </a:ext>
            </a:extLst>
          </p:cNvPr>
          <p:cNvSpPr txBox="1"/>
          <p:nvPr/>
        </p:nvSpPr>
        <p:spPr>
          <a:xfrm>
            <a:off x="11366500" y="6350000"/>
            <a:ext cx="38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altLang="ko-KR" sz="1100">
                <a:solidFill>
                  <a:srgbClr val="787878"/>
                </a:solidFill>
                <a:latin typeface="맑은 고딕" panose="020B0503020000020004" pitchFamily="50" charset="-127"/>
              </a:rPr>
              <a:t>2</a:t>
            </a:r>
            <a:endParaRPr lang="ko-KR" altLang="en-US" sz="1100">
              <a:solidFill>
                <a:srgbClr val="78787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13600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FF8E84-971A-7788-F74E-65BEB3B23088}"/>
              </a:ext>
            </a:extLst>
          </p:cNvPr>
          <p:cNvSpPr txBox="1"/>
          <p:nvPr/>
        </p:nvSpPr>
        <p:spPr>
          <a:xfrm>
            <a:off x="508000" y="444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800" b="1">
                <a:solidFill>
                  <a:srgbClr val="1E1E1E"/>
                </a:solidFill>
                <a:latin typeface="맑은 고딕" panose="020B0503020000020004" pitchFamily="50" charset="-127"/>
              </a:rPr>
              <a:t>첫 시장은 포항 예약 기반 매장 </a:t>
            </a:r>
            <a:r>
              <a:rPr lang="en-US" altLang="ko-KR" sz="2800" b="1">
                <a:solidFill>
                  <a:srgbClr val="1E1E1E"/>
                </a:solidFill>
                <a:latin typeface="맑은 고딕" panose="020B0503020000020004" pitchFamily="50" charset="-127"/>
              </a:rPr>
              <a:t>100</a:t>
            </a:r>
            <a:r>
              <a:rPr lang="ko-KR" altLang="en-US" sz="2800" b="1">
                <a:solidFill>
                  <a:srgbClr val="1E1E1E"/>
                </a:solidFill>
                <a:latin typeface="맑은 고딕" panose="020B0503020000020004" pitchFamily="50" charset="-127"/>
              </a:rPr>
              <a:t>곳이다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1D55F3-D9E8-8C33-18C4-4680C5EC792D}"/>
              </a:ext>
            </a:extLst>
          </p:cNvPr>
          <p:cNvSpPr txBox="1"/>
          <p:nvPr/>
        </p:nvSpPr>
        <p:spPr>
          <a:xfrm>
            <a:off x="508000" y="17780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500">
                <a:solidFill>
                  <a:srgbClr val="1E1E1E"/>
                </a:solidFill>
                <a:latin typeface="맑은 고딕" panose="020B0503020000020004" pitchFamily="50" charset="-127"/>
              </a:rPr>
              <a:t>우리는 포항 중심상권의 예약 기반 소상공인이 예약 누락</a:t>
            </a:r>
            <a:r>
              <a:rPr lang="en-US" altLang="ko-KR" sz="1500">
                <a:solidFill>
                  <a:srgbClr val="1E1E1E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500">
                <a:solidFill>
                  <a:srgbClr val="1E1E1E"/>
                </a:solidFill>
                <a:latin typeface="맑은 고딕" panose="020B0503020000020004" pitchFamily="50" charset="-127"/>
              </a:rPr>
              <a:t>노쇼</a:t>
            </a:r>
            <a:r>
              <a:rPr lang="en-US" altLang="ko-KR" sz="1500">
                <a:solidFill>
                  <a:srgbClr val="1E1E1E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500">
                <a:solidFill>
                  <a:srgbClr val="1E1E1E"/>
                </a:solidFill>
                <a:latin typeface="맑은 고딕" panose="020B0503020000020004" pitchFamily="50" charset="-127"/>
              </a:rPr>
              <a:t>고객 응대 지연을 줄이기 위해 지금 네이버 예약</a:t>
            </a:r>
            <a:r>
              <a:rPr lang="en-US" altLang="ko-KR" sz="1500">
                <a:solidFill>
                  <a:srgbClr val="1E1E1E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500">
                <a:solidFill>
                  <a:srgbClr val="1E1E1E"/>
                </a:solidFill>
                <a:latin typeface="맑은 고딕" panose="020B0503020000020004" pitchFamily="50" charset="-127"/>
              </a:rPr>
              <a:t>캐치테이블</a:t>
            </a:r>
            <a:r>
              <a:rPr lang="en-US" altLang="ko-KR" sz="1500">
                <a:solidFill>
                  <a:srgbClr val="1E1E1E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500">
                <a:solidFill>
                  <a:srgbClr val="1E1E1E"/>
                </a:solidFill>
                <a:latin typeface="맑은 고딕" panose="020B0503020000020004" pitchFamily="50" charset="-127"/>
              </a:rPr>
              <a:t>전화</a:t>
            </a:r>
            <a:r>
              <a:rPr lang="en-US" altLang="ko-KR" sz="1500">
                <a:solidFill>
                  <a:srgbClr val="1E1E1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500">
                <a:solidFill>
                  <a:srgbClr val="1E1E1E"/>
                </a:solidFill>
                <a:latin typeface="맑은 고딕" panose="020B0503020000020004" pitchFamily="50" charset="-127"/>
              </a:rPr>
              <a:t>카카오톡 수동응대</a:t>
            </a:r>
            <a:r>
              <a:rPr lang="en-US" altLang="ko-KR" sz="1500">
                <a:solidFill>
                  <a:srgbClr val="1E1E1E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500">
                <a:solidFill>
                  <a:srgbClr val="1E1E1E"/>
                </a:solidFill>
                <a:latin typeface="맑은 고딕" panose="020B0503020000020004" pitchFamily="50" charset="-127"/>
              </a:rPr>
              <a:t>직원 확인</a:t>
            </a:r>
            <a:r>
              <a:rPr lang="en-US" altLang="ko-KR" sz="1500">
                <a:solidFill>
                  <a:srgbClr val="1E1E1E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500">
                <a:solidFill>
                  <a:srgbClr val="1E1E1E"/>
                </a:solidFill>
                <a:latin typeface="맑은 고딕" panose="020B0503020000020004" pitchFamily="50" charset="-127"/>
              </a:rPr>
              <a:t>수기 메모에 시간과 비용을 쓰고 있는 시장에서 경쟁한다</a:t>
            </a:r>
            <a:r>
              <a:rPr lang="en-US" altLang="ko-KR" sz="1500">
                <a:solidFill>
                  <a:srgbClr val="1E1E1E"/>
                </a:solidFill>
                <a:latin typeface="맑은 고딕" panose="020B0503020000020004" pitchFamily="50" charset="-127"/>
              </a:rPr>
              <a:t>.</a:t>
            </a:r>
            <a:endParaRPr lang="ko-KR" altLang="en-US" sz="1500">
              <a:solidFill>
                <a:srgbClr val="1E1E1E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D160F46-E2E9-30D2-84CD-4986ADA772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391556"/>
              </p:ext>
            </p:extLst>
          </p:nvPr>
        </p:nvGraphicFramePr>
        <p:xfrm>
          <a:off x="508000" y="3048000"/>
          <a:ext cx="11176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8000">
                  <a:extLst>
                    <a:ext uri="{9D8B030D-6E8A-4147-A177-3AD203B41FA5}">
                      <a16:colId xmlns:a16="http://schemas.microsoft.com/office/drawing/2014/main" val="1251552109"/>
                    </a:ext>
                  </a:extLst>
                </a:gridCol>
                <a:gridCol w="5588000">
                  <a:extLst>
                    <a:ext uri="{9D8B030D-6E8A-4147-A177-3AD203B41FA5}">
                      <a16:colId xmlns:a16="http://schemas.microsoft.com/office/drawing/2014/main" val="44252692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i="0">
                          <a:solidFill>
                            <a:srgbClr val="B22234"/>
                          </a:solidFill>
                          <a:latin typeface="맑은 고딕" panose="020B0503020000020004" pitchFamily="50" charset="-127"/>
                        </a:rPr>
                        <a:t>TAM</a:t>
                      </a:r>
                      <a:endParaRPr lang="ko-KR" altLang="en-US" sz="1800" b="1" i="0">
                        <a:solidFill>
                          <a:srgbClr val="B22234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500" b="0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1500" b="0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확인 필요</a:t>
                      </a:r>
                      <a:r>
                        <a:rPr lang="en-US" altLang="ko-KR" sz="1500" b="0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]</a:t>
                      </a:r>
                      <a:endParaRPr lang="ko-KR" altLang="en-US" sz="1500" b="0" i="0">
                        <a:solidFill>
                          <a:srgbClr val="1E1E1E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8470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i="0">
                          <a:solidFill>
                            <a:srgbClr val="B22234"/>
                          </a:solidFill>
                          <a:latin typeface="맑은 고딕" panose="020B0503020000020004" pitchFamily="50" charset="-127"/>
                        </a:rPr>
                        <a:t>SAM</a:t>
                      </a:r>
                      <a:endParaRPr lang="ko-KR" altLang="en-US" sz="1800" b="1" i="0">
                        <a:solidFill>
                          <a:srgbClr val="B22234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500" b="0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약 </a:t>
                      </a:r>
                      <a:r>
                        <a:rPr lang="en-US" altLang="ko-KR" sz="1500" b="0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500</a:t>
                      </a:r>
                      <a:r>
                        <a:rPr lang="ko-KR" altLang="en-US" sz="1500" b="0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업체 </a:t>
                      </a:r>
                      <a:r>
                        <a:rPr lang="en-US" altLang="ko-KR" sz="1500" b="0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1500" b="0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사업계획서 가정</a:t>
                      </a:r>
                      <a:r>
                        <a:rPr lang="en-US" altLang="ko-KR" sz="1500" b="0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]</a:t>
                      </a:r>
                      <a:endParaRPr lang="ko-KR" altLang="en-US" sz="1500" b="0" i="0">
                        <a:solidFill>
                          <a:srgbClr val="1E1E1E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24946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i="0">
                          <a:solidFill>
                            <a:srgbClr val="B22234"/>
                          </a:solidFill>
                          <a:latin typeface="맑은 고딕" panose="020B0503020000020004" pitchFamily="50" charset="-127"/>
                        </a:rPr>
                        <a:t>SOM</a:t>
                      </a:r>
                      <a:endParaRPr lang="ko-KR" altLang="en-US" sz="1800" b="1" i="0">
                        <a:solidFill>
                          <a:srgbClr val="B22234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500" b="0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약 </a:t>
                      </a:r>
                      <a:r>
                        <a:rPr lang="en-US" altLang="ko-KR" sz="1500" b="0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100</a:t>
                      </a:r>
                      <a:r>
                        <a:rPr lang="ko-KR" altLang="en-US" sz="1500" b="0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업체 </a:t>
                      </a:r>
                      <a:r>
                        <a:rPr lang="en-US" altLang="ko-KR" sz="1500" b="0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1500" b="0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사업계획서 가정</a:t>
                      </a:r>
                      <a:r>
                        <a:rPr lang="en-US" altLang="ko-KR" sz="1500" b="0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]</a:t>
                      </a:r>
                      <a:endParaRPr lang="ko-KR" altLang="en-US" sz="1500" b="0" i="0">
                        <a:solidFill>
                          <a:srgbClr val="1E1E1E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717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99DDEE6-B256-B450-0652-1447E374370A}"/>
              </a:ext>
            </a:extLst>
          </p:cNvPr>
          <p:cNvSpPr txBox="1"/>
          <p:nvPr/>
        </p:nvSpPr>
        <p:spPr>
          <a:xfrm>
            <a:off x="508000" y="6350000"/>
            <a:ext cx="10541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출처</a:t>
            </a:r>
            <a:r>
              <a:rPr lang="en-US" altLang="ko-KR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워크시트 표</a:t>
            </a:r>
            <a:r>
              <a:rPr lang="en-US" altLang="ko-KR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33, </a:t>
            </a:r>
            <a:r>
              <a:rPr lang="ko-KR" altLang="en-US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표</a:t>
            </a:r>
            <a:r>
              <a:rPr lang="en-US" altLang="ko-KR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34</a:t>
            </a:r>
            <a:endParaRPr lang="ko-KR" altLang="en-US" sz="1100" i="1">
              <a:solidFill>
                <a:srgbClr val="78787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5E5BC4-4490-4DA0-1CA1-C6611E7A3A73}"/>
              </a:ext>
            </a:extLst>
          </p:cNvPr>
          <p:cNvSpPr txBox="1"/>
          <p:nvPr/>
        </p:nvSpPr>
        <p:spPr>
          <a:xfrm>
            <a:off x="11366500" y="6350000"/>
            <a:ext cx="38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altLang="ko-KR" sz="1100">
                <a:solidFill>
                  <a:srgbClr val="787878"/>
                </a:solidFill>
                <a:latin typeface="맑은 고딕" panose="020B0503020000020004" pitchFamily="50" charset="-127"/>
              </a:rPr>
              <a:t>3</a:t>
            </a:r>
            <a:endParaRPr lang="ko-KR" altLang="en-US" sz="1100">
              <a:solidFill>
                <a:srgbClr val="78787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492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839C0A4-55F0-C642-28BE-5CE13C891FAA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oundRect">
            <a:avLst/>
          </a:prstGeom>
          <a:solidFill>
            <a:srgbClr val="B222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6B9927-EE1E-92F2-0616-09742D0AD6ED}"/>
              </a:ext>
            </a:extLst>
          </p:cNvPr>
          <p:cNvSpPr txBox="1"/>
          <p:nvPr/>
        </p:nvSpPr>
        <p:spPr>
          <a:xfrm>
            <a:off x="762000" y="2413000"/>
            <a:ext cx="10668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ko-KR" altLang="en-US" sz="3000" b="1">
                <a:solidFill>
                  <a:srgbClr val="1E1E1E"/>
                </a:solidFill>
                <a:latin typeface="맑은 고딕" panose="020B0503020000020004" pitchFamily="50" charset="-127"/>
              </a:rPr>
              <a:t>포항 예약 기반 소상공인 </a:t>
            </a:r>
            <a:r>
              <a:rPr lang="en-US" altLang="ko-KR" sz="3000" b="1">
                <a:solidFill>
                  <a:srgbClr val="1E1E1E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3000" b="1">
                <a:solidFill>
                  <a:srgbClr val="1E1E1E"/>
                </a:solidFill>
                <a:latin typeface="맑은 고딕" panose="020B0503020000020004" pitchFamily="50" charset="-127"/>
              </a:rPr>
              <a:t>곳에 업종별 챗봇</a:t>
            </a:r>
            <a:r>
              <a:rPr lang="en-US" altLang="ko-KR" sz="3000" b="1">
                <a:solidFill>
                  <a:srgbClr val="1E1E1E"/>
                </a:solidFill>
                <a:latin typeface="맑은 고딕" panose="020B0503020000020004" pitchFamily="50" charset="-127"/>
              </a:rPr>
              <a:t>+</a:t>
            </a:r>
            <a:r>
              <a:rPr lang="ko-KR" altLang="en-US" sz="3000" b="1">
                <a:solidFill>
                  <a:srgbClr val="1E1E1E"/>
                </a:solidFill>
                <a:latin typeface="맑은 고딕" panose="020B0503020000020004" pitchFamily="50" charset="-127"/>
              </a:rPr>
              <a:t>예약 리마인드</a:t>
            </a:r>
            <a:r>
              <a:rPr lang="en-US" altLang="ko-KR" sz="3000" b="1">
                <a:solidFill>
                  <a:srgbClr val="1E1E1E"/>
                </a:solidFill>
                <a:latin typeface="맑은 고딕" panose="020B0503020000020004" pitchFamily="50" charset="-127"/>
              </a:rPr>
              <a:t>+</a:t>
            </a:r>
            <a:r>
              <a:rPr lang="ko-KR" altLang="en-US" sz="3000" b="1">
                <a:solidFill>
                  <a:srgbClr val="1E1E1E"/>
                </a:solidFill>
                <a:latin typeface="맑은 고딕" panose="020B0503020000020004" pitchFamily="50" charset="-127"/>
              </a:rPr>
              <a:t>운영대시보드를 현장 세팅해주면</a:t>
            </a:r>
            <a:r>
              <a:rPr lang="en-US" altLang="ko-KR" sz="3000" b="1">
                <a:solidFill>
                  <a:srgbClr val="1E1E1E"/>
                </a:solidFill>
                <a:latin typeface="맑은 고딕" panose="020B0503020000020004" pitchFamily="50" charset="-127"/>
              </a:rPr>
              <a:t>, 2</a:t>
            </a:r>
            <a:r>
              <a:rPr lang="ko-KR" altLang="en-US" sz="3000" b="1">
                <a:solidFill>
                  <a:srgbClr val="1E1E1E"/>
                </a:solidFill>
                <a:latin typeface="맑은 고딕" panose="020B0503020000020004" pitchFamily="50" charset="-127"/>
              </a:rPr>
              <a:t>주 안에 예약 누락</a:t>
            </a:r>
            <a:r>
              <a:rPr lang="en-US" altLang="ko-KR" sz="3000" b="1">
                <a:solidFill>
                  <a:srgbClr val="1E1E1E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3000" b="1">
                <a:solidFill>
                  <a:srgbClr val="1E1E1E"/>
                </a:solidFill>
                <a:latin typeface="맑은 고딕" panose="020B0503020000020004" pitchFamily="50" charset="-127"/>
              </a:rPr>
              <a:t>노쇼</a:t>
            </a:r>
            <a:r>
              <a:rPr lang="en-US" altLang="ko-KR" sz="3000" b="1">
                <a:solidFill>
                  <a:srgbClr val="1E1E1E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3000" b="1">
                <a:solidFill>
                  <a:srgbClr val="1E1E1E"/>
                </a:solidFill>
                <a:latin typeface="맑은 고딕" panose="020B0503020000020004" pitchFamily="50" charset="-127"/>
              </a:rPr>
              <a:t>응대시간 중 </a:t>
            </a:r>
            <a:r>
              <a:rPr lang="en-US" altLang="ko-KR" sz="3000" b="1">
                <a:solidFill>
                  <a:srgbClr val="1E1E1E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3000" b="1">
                <a:solidFill>
                  <a:srgbClr val="1E1E1E"/>
                </a:solidFill>
                <a:latin typeface="맑은 고딕" panose="020B0503020000020004" pitchFamily="50" charset="-127"/>
              </a:rPr>
              <a:t>개 이상이 개선되고 유료 전환 의향 </a:t>
            </a:r>
            <a:r>
              <a:rPr lang="en-US" altLang="ko-KR" sz="3000" b="1">
                <a:solidFill>
                  <a:srgbClr val="1E1E1E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3000" b="1">
                <a:solidFill>
                  <a:srgbClr val="1E1E1E"/>
                </a:solidFill>
                <a:latin typeface="맑은 고딕" panose="020B0503020000020004" pitchFamily="50" charset="-127"/>
              </a:rPr>
              <a:t>건을 확보할 수 있다</a:t>
            </a:r>
            <a:r>
              <a:rPr lang="en-US" altLang="ko-KR" sz="3000" b="1">
                <a:solidFill>
                  <a:srgbClr val="1E1E1E"/>
                </a:solidFill>
                <a:latin typeface="맑은 고딕" panose="020B0503020000020004" pitchFamily="50" charset="-127"/>
              </a:rPr>
              <a:t>.</a:t>
            </a:r>
            <a:endParaRPr lang="ko-KR" altLang="en-US" sz="3000" b="1">
              <a:solidFill>
                <a:srgbClr val="1E1E1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2062E7-F02A-A879-4706-56549924AED9}"/>
              </a:ext>
            </a:extLst>
          </p:cNvPr>
          <p:cNvSpPr txBox="1"/>
          <p:nvPr/>
        </p:nvSpPr>
        <p:spPr>
          <a:xfrm>
            <a:off x="508000" y="6350000"/>
            <a:ext cx="10541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출처</a:t>
            </a:r>
            <a:r>
              <a:rPr lang="en-US" altLang="ko-KR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워크시트 표</a:t>
            </a:r>
            <a:r>
              <a:rPr lang="en-US" altLang="ko-KR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78(R2)</a:t>
            </a:r>
            <a:endParaRPr lang="ko-KR" altLang="en-US" sz="1100" i="1">
              <a:solidFill>
                <a:srgbClr val="78787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908DA9-B36D-8F3F-E78F-07E45BABD159}"/>
              </a:ext>
            </a:extLst>
          </p:cNvPr>
          <p:cNvSpPr txBox="1"/>
          <p:nvPr/>
        </p:nvSpPr>
        <p:spPr>
          <a:xfrm>
            <a:off x="11366500" y="6350000"/>
            <a:ext cx="38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altLang="ko-KR" sz="1100">
                <a:solidFill>
                  <a:srgbClr val="787878"/>
                </a:solidFill>
                <a:latin typeface="맑은 고딕" panose="020B0503020000020004" pitchFamily="50" charset="-127"/>
              </a:rPr>
              <a:t>4</a:t>
            </a:r>
            <a:endParaRPr lang="ko-KR" altLang="en-US" sz="1100">
              <a:solidFill>
                <a:srgbClr val="78787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5645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18B480-58DB-8E61-97F7-C96FCE5527C2}"/>
              </a:ext>
            </a:extLst>
          </p:cNvPr>
          <p:cNvSpPr txBox="1"/>
          <p:nvPr/>
        </p:nvSpPr>
        <p:spPr>
          <a:xfrm>
            <a:off x="508000" y="444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2800" b="1">
                <a:solidFill>
                  <a:srgbClr val="1E1E1E"/>
                </a:solidFill>
                <a:latin typeface="맑은 고딕" panose="020B0503020000020004" pitchFamily="50" charset="-127"/>
              </a:rPr>
              <a:t>AX </a:t>
            </a:r>
            <a:r>
              <a:rPr lang="ko-KR" altLang="en-US" sz="2800" b="1">
                <a:solidFill>
                  <a:srgbClr val="1E1E1E"/>
                </a:solidFill>
                <a:latin typeface="맑은 고딕" panose="020B0503020000020004" pitchFamily="50" charset="-127"/>
              </a:rPr>
              <a:t>상회는 챗봇이 아니라 운영 결과를 제공한다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7A9B330-466C-E2E5-A3E1-CCDC6CCF10DC}"/>
              </a:ext>
            </a:extLst>
          </p:cNvPr>
          <p:cNvSpPr/>
          <p:nvPr/>
        </p:nvSpPr>
        <p:spPr>
          <a:xfrm>
            <a:off x="508000" y="2794000"/>
            <a:ext cx="3302000" cy="2794000"/>
          </a:xfrm>
          <a:prstGeom prst="round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600" b="1">
                <a:solidFill>
                  <a:srgbClr val="B22234"/>
                </a:solidFill>
                <a:latin typeface="맑은 고딕" panose="020B0503020000020004" pitchFamily="50" charset="-127"/>
              </a:rPr>
              <a:t>입력</a:t>
            </a:r>
          </a:p>
          <a:p>
            <a:pPr algn="ctr"/>
            <a:r>
              <a:rPr lang="ko-KR" altLang="en-US" sz="1400">
                <a:solidFill>
                  <a:srgbClr val="1E1E1E"/>
                </a:solidFill>
                <a:latin typeface="맑은 고딕" panose="020B0503020000020004" pitchFamily="50" charset="-127"/>
              </a:rPr>
              <a:t>예약</a:t>
            </a:r>
            <a:r>
              <a:rPr lang="en-US" altLang="ko-KR" sz="1400">
                <a:solidFill>
                  <a:srgbClr val="1E1E1E"/>
                </a:solidFill>
                <a:latin typeface="맑은 고딕" panose="020B0503020000020004" pitchFamily="50" charset="-127"/>
              </a:rPr>
              <a:t>/POS/</a:t>
            </a:r>
            <a:r>
              <a:rPr lang="ko-KR" altLang="en-US" sz="1400">
                <a:solidFill>
                  <a:srgbClr val="1E1E1E"/>
                </a:solidFill>
                <a:latin typeface="맑은 고딕" panose="020B0503020000020004" pitchFamily="50" charset="-127"/>
              </a:rPr>
              <a:t>문의 로그</a:t>
            </a:r>
          </a:p>
          <a:p>
            <a:pPr algn="ctr"/>
            <a:r>
              <a:rPr lang="ko-KR" altLang="en-US" sz="1400">
                <a:solidFill>
                  <a:srgbClr val="1E1E1E"/>
                </a:solidFill>
                <a:latin typeface="맑은 고딕" panose="020B0503020000020004" pitchFamily="50" charset="-127"/>
              </a:rPr>
              <a:t>업종별 </a:t>
            </a:r>
            <a:r>
              <a:rPr lang="en-US" altLang="ko-KR" sz="1400">
                <a:solidFill>
                  <a:srgbClr val="1E1E1E"/>
                </a:solidFill>
                <a:latin typeface="맑은 고딕" panose="020B0503020000020004" pitchFamily="50" charset="-127"/>
              </a:rPr>
              <a:t>FAQ</a:t>
            </a:r>
          </a:p>
          <a:p>
            <a:pPr algn="ctr"/>
            <a:r>
              <a:rPr lang="ko-KR" altLang="en-US" sz="1400">
                <a:solidFill>
                  <a:srgbClr val="1E1E1E"/>
                </a:solidFill>
                <a:latin typeface="맑은 고딕" panose="020B0503020000020004" pitchFamily="50" charset="-127"/>
              </a:rPr>
              <a:t>매장 운영 규칙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B4C0EF-759C-93FD-A421-D14427BD88E5}"/>
              </a:ext>
            </a:extLst>
          </p:cNvPr>
          <p:cNvSpPr txBox="1"/>
          <p:nvPr/>
        </p:nvSpPr>
        <p:spPr>
          <a:xfrm>
            <a:off x="3873500" y="3810000"/>
            <a:ext cx="571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3000" b="1">
                <a:solidFill>
                  <a:srgbClr val="B22234"/>
                </a:solidFill>
                <a:latin typeface="맑은 고딕" panose="020B0503020000020004" pitchFamily="50" charset="-127"/>
              </a:rPr>
              <a:t>→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5FDF46F-5040-8282-E5BF-7A366959111C}"/>
              </a:ext>
            </a:extLst>
          </p:cNvPr>
          <p:cNvSpPr/>
          <p:nvPr/>
        </p:nvSpPr>
        <p:spPr>
          <a:xfrm>
            <a:off x="4445000" y="2794000"/>
            <a:ext cx="3302000" cy="2794000"/>
          </a:xfrm>
          <a:prstGeom prst="round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600" b="1">
                <a:solidFill>
                  <a:srgbClr val="B22234"/>
                </a:solidFill>
                <a:latin typeface="맑은 고딕" panose="020B0503020000020004" pitchFamily="50" charset="-127"/>
              </a:rPr>
              <a:t>처리</a:t>
            </a:r>
          </a:p>
          <a:p>
            <a:pPr algn="ctr"/>
            <a:r>
              <a:rPr lang="en-US" altLang="ko-KR" sz="1400">
                <a:solidFill>
                  <a:srgbClr val="1E1E1E"/>
                </a:solidFill>
                <a:latin typeface="맑은 고딕" panose="020B0503020000020004" pitchFamily="50" charset="-127"/>
              </a:rPr>
              <a:t>CSV/API </a:t>
            </a:r>
            <a:r>
              <a:rPr lang="ko-KR" altLang="en-US" sz="1400">
                <a:solidFill>
                  <a:srgbClr val="1E1E1E"/>
                </a:solidFill>
                <a:latin typeface="맑은 고딕" panose="020B0503020000020004" pitchFamily="50" charset="-127"/>
              </a:rPr>
              <a:t>인게스트</a:t>
            </a:r>
          </a:p>
          <a:p>
            <a:pPr algn="ctr"/>
            <a:r>
              <a:rPr lang="ko-KR" altLang="en-US" sz="1400">
                <a:solidFill>
                  <a:srgbClr val="1E1E1E"/>
                </a:solidFill>
                <a:latin typeface="맑은 고딕" panose="020B0503020000020004" pitchFamily="50" charset="-127"/>
              </a:rPr>
              <a:t>업종 템플릿 매핑</a:t>
            </a:r>
          </a:p>
          <a:p>
            <a:pPr algn="ctr"/>
            <a:r>
              <a:rPr lang="ko-KR" altLang="en-US" sz="1400">
                <a:solidFill>
                  <a:srgbClr val="1E1E1E"/>
                </a:solidFill>
                <a:latin typeface="맑은 고딕" panose="020B0503020000020004" pitchFamily="50" charset="-127"/>
              </a:rPr>
              <a:t>챗봇 응답</a:t>
            </a:r>
            <a:r>
              <a:rPr lang="en-US" altLang="ko-KR" sz="1400">
                <a:solidFill>
                  <a:srgbClr val="1E1E1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E1E1E"/>
                </a:solidFill>
                <a:latin typeface="맑은 고딕" panose="020B0503020000020004" pitchFamily="50" charset="-127"/>
              </a:rPr>
              <a:t>리마인드 로직</a:t>
            </a:r>
          </a:p>
          <a:p>
            <a:pPr algn="ctr"/>
            <a:r>
              <a:rPr lang="ko-KR" altLang="en-US" sz="1400">
                <a:solidFill>
                  <a:srgbClr val="1E1E1E"/>
                </a:solidFill>
                <a:latin typeface="맑은 고딕" panose="020B0503020000020004" pitchFamily="50" charset="-127"/>
              </a:rPr>
              <a:t>운영 로그 분석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E0FA6F-2F1D-9C33-4B69-F23B2B339498}"/>
              </a:ext>
            </a:extLst>
          </p:cNvPr>
          <p:cNvSpPr txBox="1"/>
          <p:nvPr/>
        </p:nvSpPr>
        <p:spPr>
          <a:xfrm>
            <a:off x="7810500" y="3810000"/>
            <a:ext cx="571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3000" b="1">
                <a:solidFill>
                  <a:srgbClr val="B22234"/>
                </a:solidFill>
                <a:latin typeface="맑은 고딕" panose="020B0503020000020004" pitchFamily="50" charset="-127"/>
              </a:rPr>
              <a:t>→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D0CFBB1-90D9-B4DA-CF36-A464715E7759}"/>
              </a:ext>
            </a:extLst>
          </p:cNvPr>
          <p:cNvSpPr/>
          <p:nvPr/>
        </p:nvSpPr>
        <p:spPr>
          <a:xfrm>
            <a:off x="8382000" y="2794000"/>
            <a:ext cx="3302000" cy="2794000"/>
          </a:xfrm>
          <a:prstGeom prst="round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600" b="1">
                <a:solidFill>
                  <a:srgbClr val="B22234"/>
                </a:solidFill>
                <a:latin typeface="맑은 고딕" panose="020B0503020000020004" pitchFamily="50" charset="-127"/>
              </a:rPr>
              <a:t>출력</a:t>
            </a:r>
          </a:p>
          <a:p>
            <a:pPr algn="ctr"/>
            <a:r>
              <a:rPr lang="ko-KR" altLang="en-US" sz="1400">
                <a:solidFill>
                  <a:srgbClr val="1E1E1E"/>
                </a:solidFill>
                <a:latin typeface="맑은 고딕" panose="020B0503020000020004" pitchFamily="50" charset="-127"/>
              </a:rPr>
              <a:t>고객 자동응대</a:t>
            </a:r>
          </a:p>
          <a:p>
            <a:pPr algn="ctr"/>
            <a:r>
              <a:rPr lang="ko-KR" altLang="en-US" sz="1400">
                <a:solidFill>
                  <a:srgbClr val="1E1E1E"/>
                </a:solidFill>
                <a:latin typeface="맑은 고딕" panose="020B0503020000020004" pitchFamily="50" charset="-127"/>
              </a:rPr>
              <a:t>예약 확인</a:t>
            </a:r>
            <a:r>
              <a:rPr lang="en-US" altLang="ko-KR" sz="1400">
                <a:solidFill>
                  <a:srgbClr val="1E1E1E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400">
                <a:solidFill>
                  <a:srgbClr val="1E1E1E"/>
                </a:solidFill>
                <a:latin typeface="맑은 고딕" panose="020B0503020000020004" pitchFamily="50" charset="-127"/>
              </a:rPr>
              <a:t>리마인드</a:t>
            </a:r>
          </a:p>
          <a:p>
            <a:pPr algn="ctr"/>
            <a:r>
              <a:rPr lang="ko-KR" altLang="en-US" sz="1400">
                <a:solidFill>
                  <a:srgbClr val="1E1E1E"/>
                </a:solidFill>
                <a:latin typeface="맑은 고딕" panose="020B0503020000020004" pitchFamily="50" charset="-127"/>
              </a:rPr>
              <a:t>운영대시보드</a:t>
            </a:r>
          </a:p>
          <a:p>
            <a:pPr algn="ctr"/>
            <a:r>
              <a:rPr lang="ko-KR" altLang="en-US" sz="1400">
                <a:solidFill>
                  <a:srgbClr val="1E1E1E"/>
                </a:solidFill>
                <a:latin typeface="맑은 고딕" panose="020B0503020000020004" pitchFamily="50" charset="-127"/>
              </a:rPr>
              <a:t>월간 리포트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E56C63-467C-F90A-5A1C-7CF4680E15FD}"/>
              </a:ext>
            </a:extLst>
          </p:cNvPr>
          <p:cNvSpPr txBox="1"/>
          <p:nvPr/>
        </p:nvSpPr>
        <p:spPr>
          <a:xfrm>
            <a:off x="508000" y="6350000"/>
            <a:ext cx="10541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출처</a:t>
            </a:r>
            <a:r>
              <a:rPr lang="en-US" altLang="ko-KR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워크시트 표</a:t>
            </a:r>
            <a:r>
              <a:rPr lang="en-US" altLang="ko-KR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56</a:t>
            </a:r>
            <a:endParaRPr lang="ko-KR" altLang="en-US" sz="1100" i="1">
              <a:solidFill>
                <a:srgbClr val="78787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61058F-1902-4048-233D-9B9C7752B143}"/>
              </a:ext>
            </a:extLst>
          </p:cNvPr>
          <p:cNvSpPr txBox="1"/>
          <p:nvPr/>
        </p:nvSpPr>
        <p:spPr>
          <a:xfrm>
            <a:off x="11366500" y="6350000"/>
            <a:ext cx="38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altLang="ko-KR" sz="1100">
                <a:solidFill>
                  <a:srgbClr val="787878"/>
                </a:solidFill>
                <a:latin typeface="맑은 고딕" panose="020B0503020000020004" pitchFamily="50" charset="-127"/>
              </a:rPr>
              <a:t>5</a:t>
            </a:r>
            <a:endParaRPr lang="ko-KR" altLang="en-US" sz="1100">
              <a:solidFill>
                <a:srgbClr val="78787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4567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08D899-4580-32D5-4D8A-4739C7052B4C}"/>
              </a:ext>
            </a:extLst>
          </p:cNvPr>
          <p:cNvSpPr txBox="1"/>
          <p:nvPr/>
        </p:nvSpPr>
        <p:spPr>
          <a:xfrm>
            <a:off x="508000" y="444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2600" b="1">
                <a:solidFill>
                  <a:srgbClr val="1E1E1E"/>
                </a:solidFill>
                <a:latin typeface="맑은 고딕" panose="020B0503020000020004" pitchFamily="50" charset="-127"/>
              </a:rPr>
              <a:t>MVP </a:t>
            </a:r>
            <a:r>
              <a:rPr lang="ko-KR" altLang="en-US" sz="2600" b="1">
                <a:solidFill>
                  <a:srgbClr val="1E1E1E"/>
                </a:solidFill>
                <a:latin typeface="맑은 고딕" panose="020B0503020000020004" pitchFamily="50" charset="-127"/>
              </a:rPr>
              <a:t>화면 캡처 준비 필요 </a:t>
            </a:r>
            <a:r>
              <a:rPr lang="en-US" altLang="ko-KR" sz="2600" b="1">
                <a:solidFill>
                  <a:srgbClr val="1E1E1E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2600" b="1">
                <a:solidFill>
                  <a:srgbClr val="1E1E1E"/>
                </a:solidFill>
                <a:latin typeface="맑은 고딕" panose="020B0503020000020004" pitchFamily="50" charset="-127"/>
              </a:rPr>
              <a:t>아직 스크린샷 없음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4E1502D-3281-F9CC-C2AD-C28A96CAF959}"/>
              </a:ext>
            </a:extLst>
          </p:cNvPr>
          <p:cNvSpPr/>
          <p:nvPr/>
        </p:nvSpPr>
        <p:spPr>
          <a:xfrm>
            <a:off x="508000" y="2540000"/>
            <a:ext cx="3302000" cy="279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8787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1400">
                <a:solidFill>
                  <a:srgbClr val="787878"/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400">
                <a:solidFill>
                  <a:srgbClr val="787878"/>
                </a:solidFill>
                <a:latin typeface="맑은 고딕" panose="020B0503020000020004" pitchFamily="50" charset="-127"/>
              </a:rPr>
              <a:t>이미지</a:t>
            </a:r>
            <a:r>
              <a:rPr lang="en-US" altLang="ko-KR" sz="1400">
                <a:solidFill>
                  <a:srgbClr val="787878"/>
                </a:solidFill>
                <a:latin typeface="맑은 고딕" panose="020B0503020000020004" pitchFamily="50" charset="-127"/>
              </a:rPr>
              <a:t>:</a:t>
            </a:r>
          </a:p>
          <a:p>
            <a:pPr algn="ctr"/>
            <a:r>
              <a:rPr lang="ko-KR" altLang="en-US" sz="1400">
                <a:solidFill>
                  <a:srgbClr val="787878"/>
                </a:solidFill>
                <a:latin typeface="맑은 고딕" panose="020B0503020000020004" pitchFamily="50" charset="-127"/>
              </a:rPr>
              <a:t>오늘의 예약</a:t>
            </a:r>
            <a:r>
              <a:rPr lang="en-US" altLang="ko-KR" sz="1400">
                <a:solidFill>
                  <a:srgbClr val="787878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400">
                <a:solidFill>
                  <a:srgbClr val="787878"/>
                </a:solidFill>
                <a:latin typeface="맑은 고딕" panose="020B0503020000020004" pitchFamily="50" charset="-127"/>
              </a:rPr>
              <a:t>문의 현황 화면</a:t>
            </a:r>
            <a:r>
              <a:rPr lang="en-US" altLang="ko-KR" sz="1400">
                <a:solidFill>
                  <a:srgbClr val="787878"/>
                </a:solidFill>
                <a:latin typeface="맑은 고딕" panose="020B0503020000020004" pitchFamily="50" charset="-127"/>
              </a:rPr>
              <a:t>]</a:t>
            </a:r>
            <a:endParaRPr lang="ko-KR" altLang="en-US" sz="1400">
              <a:solidFill>
                <a:srgbClr val="78787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89B393D-272B-96F5-74BA-BC1100EE8C65}"/>
              </a:ext>
            </a:extLst>
          </p:cNvPr>
          <p:cNvSpPr/>
          <p:nvPr/>
        </p:nvSpPr>
        <p:spPr>
          <a:xfrm>
            <a:off x="4445000" y="2540000"/>
            <a:ext cx="3302000" cy="279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8787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1400">
                <a:solidFill>
                  <a:srgbClr val="787878"/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400">
                <a:solidFill>
                  <a:srgbClr val="787878"/>
                </a:solidFill>
                <a:latin typeface="맑은 고딕" panose="020B0503020000020004" pitchFamily="50" charset="-127"/>
              </a:rPr>
              <a:t>이미지</a:t>
            </a:r>
            <a:r>
              <a:rPr lang="en-US" altLang="ko-KR" sz="1400">
                <a:solidFill>
                  <a:srgbClr val="787878"/>
                </a:solidFill>
                <a:latin typeface="맑은 고딕" panose="020B0503020000020004" pitchFamily="50" charset="-127"/>
              </a:rPr>
              <a:t>:</a:t>
            </a:r>
          </a:p>
          <a:p>
            <a:pPr algn="ctr"/>
            <a:r>
              <a:rPr lang="ko-KR" altLang="en-US" sz="1400">
                <a:solidFill>
                  <a:srgbClr val="787878"/>
                </a:solidFill>
                <a:latin typeface="맑은 고딕" panose="020B0503020000020004" pitchFamily="50" charset="-127"/>
              </a:rPr>
              <a:t>자동응답 처리율 화면</a:t>
            </a:r>
            <a:r>
              <a:rPr lang="en-US" altLang="ko-KR" sz="1400">
                <a:solidFill>
                  <a:srgbClr val="787878"/>
                </a:solidFill>
                <a:latin typeface="맑은 고딕" panose="020B0503020000020004" pitchFamily="50" charset="-127"/>
              </a:rPr>
              <a:t>]</a:t>
            </a:r>
            <a:endParaRPr lang="ko-KR" altLang="en-US" sz="1400">
              <a:solidFill>
                <a:srgbClr val="78787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67C0C2E-2EBF-4342-0C66-D811CF2D8E98}"/>
              </a:ext>
            </a:extLst>
          </p:cNvPr>
          <p:cNvSpPr/>
          <p:nvPr/>
        </p:nvSpPr>
        <p:spPr>
          <a:xfrm>
            <a:off x="8382000" y="2540000"/>
            <a:ext cx="3302000" cy="279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8787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1400">
                <a:solidFill>
                  <a:srgbClr val="787878"/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400">
                <a:solidFill>
                  <a:srgbClr val="787878"/>
                </a:solidFill>
                <a:latin typeface="맑은 고딕" panose="020B0503020000020004" pitchFamily="50" charset="-127"/>
              </a:rPr>
              <a:t>이미지</a:t>
            </a:r>
            <a:r>
              <a:rPr lang="en-US" altLang="ko-KR" sz="1400">
                <a:solidFill>
                  <a:srgbClr val="787878"/>
                </a:solidFill>
                <a:latin typeface="맑은 고딕" panose="020B0503020000020004" pitchFamily="50" charset="-127"/>
              </a:rPr>
              <a:t>:</a:t>
            </a:r>
          </a:p>
          <a:p>
            <a:pPr algn="ctr"/>
            <a:r>
              <a:rPr lang="ko-KR" altLang="en-US" sz="1400">
                <a:solidFill>
                  <a:srgbClr val="787878"/>
                </a:solidFill>
                <a:latin typeface="맑은 고딕" panose="020B0503020000020004" pitchFamily="50" charset="-127"/>
              </a:rPr>
              <a:t>노쇼</a:t>
            </a:r>
            <a:r>
              <a:rPr lang="en-US" altLang="ko-KR" sz="1400">
                <a:solidFill>
                  <a:srgbClr val="787878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400">
                <a:solidFill>
                  <a:srgbClr val="787878"/>
                </a:solidFill>
                <a:latin typeface="맑은 고딕" panose="020B0503020000020004" pitchFamily="50" charset="-127"/>
              </a:rPr>
              <a:t>예약누락 지표 화면</a:t>
            </a:r>
            <a:r>
              <a:rPr lang="en-US" altLang="ko-KR" sz="1400">
                <a:solidFill>
                  <a:srgbClr val="787878"/>
                </a:solidFill>
                <a:latin typeface="맑은 고딕" panose="020B0503020000020004" pitchFamily="50" charset="-127"/>
              </a:rPr>
              <a:t>]</a:t>
            </a:r>
            <a:endParaRPr lang="ko-KR" altLang="en-US" sz="1400">
              <a:solidFill>
                <a:srgbClr val="78787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4B2C46-609F-DC5D-B2BB-AD736899F44F}"/>
              </a:ext>
            </a:extLst>
          </p:cNvPr>
          <p:cNvSpPr txBox="1"/>
          <p:nvPr/>
        </p:nvSpPr>
        <p:spPr>
          <a:xfrm>
            <a:off x="508000" y="6350000"/>
            <a:ext cx="10541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출처</a:t>
            </a:r>
            <a:r>
              <a:rPr lang="en-US" altLang="ko-KR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워크시트 표</a:t>
            </a:r>
            <a:r>
              <a:rPr lang="en-US" altLang="ko-KR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86(R17), </a:t>
            </a:r>
            <a:r>
              <a:rPr lang="ko-KR" altLang="en-US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표</a:t>
            </a:r>
            <a:r>
              <a:rPr lang="en-US" altLang="ko-KR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88(R6)</a:t>
            </a:r>
            <a:endParaRPr lang="ko-KR" altLang="en-US" sz="1100" i="1">
              <a:solidFill>
                <a:srgbClr val="78787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9B2B84-1116-AE7C-3FBE-3DBBFAF42117}"/>
              </a:ext>
            </a:extLst>
          </p:cNvPr>
          <p:cNvSpPr txBox="1"/>
          <p:nvPr/>
        </p:nvSpPr>
        <p:spPr>
          <a:xfrm>
            <a:off x="11366500" y="6350000"/>
            <a:ext cx="38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altLang="ko-KR" sz="1100">
                <a:solidFill>
                  <a:srgbClr val="787878"/>
                </a:solidFill>
                <a:latin typeface="맑은 고딕" panose="020B0503020000020004" pitchFamily="50" charset="-127"/>
              </a:rPr>
              <a:t>6</a:t>
            </a:r>
            <a:endParaRPr lang="ko-KR" altLang="en-US" sz="1100">
              <a:solidFill>
                <a:srgbClr val="78787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0208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DB0B5C-A41B-8F29-A75F-6D6FC352828F}"/>
              </a:ext>
            </a:extLst>
          </p:cNvPr>
          <p:cNvSpPr txBox="1"/>
          <p:nvPr/>
        </p:nvSpPr>
        <p:spPr>
          <a:xfrm>
            <a:off x="508000" y="444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800" b="1">
                <a:solidFill>
                  <a:srgbClr val="1E1E1E"/>
                </a:solidFill>
                <a:latin typeface="맑은 고딕" panose="020B0503020000020004" pitchFamily="50" charset="-127"/>
              </a:rPr>
              <a:t>범용 </a:t>
            </a:r>
            <a:r>
              <a:rPr lang="en-US" altLang="ko-KR" sz="2800" b="1">
                <a:solidFill>
                  <a:srgbClr val="1E1E1E"/>
                </a:solidFill>
                <a:latin typeface="맑은 고딕" panose="020B0503020000020004" pitchFamily="50" charset="-127"/>
              </a:rPr>
              <a:t>SaaS</a:t>
            </a:r>
            <a:r>
              <a:rPr lang="ko-KR" altLang="en-US" sz="2800" b="1">
                <a:solidFill>
                  <a:srgbClr val="1E1E1E"/>
                </a:solidFill>
                <a:latin typeface="맑은 고딕" panose="020B0503020000020004" pitchFamily="50" charset="-127"/>
              </a:rPr>
              <a:t>와 달리 세팅</a:t>
            </a:r>
            <a:r>
              <a:rPr lang="en-US" altLang="ko-KR" sz="2800" b="1">
                <a:solidFill>
                  <a:srgbClr val="1E1E1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2800" b="1">
                <a:solidFill>
                  <a:srgbClr val="1E1E1E"/>
                </a:solidFill>
                <a:latin typeface="맑은 고딕" panose="020B0503020000020004" pitchFamily="50" charset="-127"/>
              </a:rPr>
              <a:t>교육</a:t>
            </a:r>
            <a:r>
              <a:rPr lang="en-US" altLang="ko-KR" sz="2800" b="1">
                <a:solidFill>
                  <a:srgbClr val="1E1E1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2800" b="1">
                <a:solidFill>
                  <a:srgbClr val="1E1E1E"/>
                </a:solidFill>
                <a:latin typeface="맑은 고딕" panose="020B0503020000020004" pitchFamily="50" charset="-127"/>
              </a:rPr>
              <a:t>튜닝까지 책임진다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163C077-A16E-73BA-97BC-33DB986485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791299"/>
              </p:ext>
            </p:extLst>
          </p:nvPr>
        </p:nvGraphicFramePr>
        <p:xfrm>
          <a:off x="508000" y="2032000"/>
          <a:ext cx="11176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8000">
                  <a:extLst>
                    <a:ext uri="{9D8B030D-6E8A-4147-A177-3AD203B41FA5}">
                      <a16:colId xmlns:a16="http://schemas.microsoft.com/office/drawing/2014/main" val="3614268755"/>
                    </a:ext>
                  </a:extLst>
                </a:gridCol>
                <a:gridCol w="5588000">
                  <a:extLst>
                    <a:ext uri="{9D8B030D-6E8A-4147-A177-3AD203B41FA5}">
                      <a16:colId xmlns:a16="http://schemas.microsoft.com/office/drawing/2014/main" val="461795315"/>
                    </a:ext>
                  </a:extLst>
                </a:gridCol>
              </a:tblGrid>
              <a:tr h="127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경쟁사 문구</a:t>
                      </a:r>
                    </a:p>
                  </a:txBody>
                  <a:tcPr anchor="ctr">
                    <a:solidFill>
                      <a:srgbClr val="5A5A5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우리 문구</a:t>
                      </a:r>
                    </a:p>
                  </a:txBody>
                  <a:tcPr anchor="ctr">
                    <a:solidFill>
                      <a:srgbClr val="B222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07572"/>
                  </a:ext>
                </a:extLst>
              </a:tr>
              <a:tr h="1270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네이버 예약</a:t>
                      </a:r>
                      <a:r>
                        <a:rPr lang="en-US" altLang="ko-KR" sz="1300" b="0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00" b="0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캐치테이블</a:t>
                      </a:r>
                      <a:r>
                        <a:rPr lang="en-US" altLang="ko-KR" sz="1300" b="0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:</a:t>
                      </a:r>
                    </a:p>
                    <a:p>
                      <a:pPr algn="l" latinLnBrk="1"/>
                      <a:r>
                        <a:rPr lang="ko-KR" altLang="en-US" sz="1300" b="0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매장별 운영 튜닝과 현장 대행은 사장님 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1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AX </a:t>
                      </a:r>
                      <a:r>
                        <a:rPr lang="ko-KR" altLang="en-US" sz="1300" b="1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상회</a:t>
                      </a:r>
                      <a:r>
                        <a:rPr lang="en-US" altLang="ko-KR" sz="1300" b="1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:</a:t>
                      </a:r>
                    </a:p>
                    <a:p>
                      <a:pPr algn="l" latinLnBrk="1"/>
                      <a:r>
                        <a:rPr lang="ko-KR" altLang="en-US" sz="1300" b="1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현장 세팅</a:t>
                      </a:r>
                      <a:r>
                        <a:rPr lang="en-US" altLang="ko-KR" sz="1300" b="1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00" b="1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운영 튜닝까지 대행</a:t>
                      </a:r>
                    </a:p>
                  </a:txBody>
                  <a:tcPr anchor="ctr">
                    <a:solidFill>
                      <a:srgbClr val="FAEB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43231"/>
                  </a:ext>
                </a:extLst>
              </a:tr>
              <a:tr h="12700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300" b="0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일반 챗봇 플랫폼</a:t>
                      </a:r>
                      <a:r>
                        <a:rPr lang="en-US" altLang="ko-KR" sz="1300" b="0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:</a:t>
                      </a:r>
                    </a:p>
                    <a:p>
                      <a:pPr algn="l" latinLnBrk="1"/>
                      <a:r>
                        <a:rPr lang="en-US" altLang="ko-KR" sz="1300" b="0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POS·</a:t>
                      </a:r>
                      <a:r>
                        <a:rPr lang="ko-KR" altLang="en-US" sz="1300" b="0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예약</a:t>
                      </a:r>
                      <a:r>
                        <a:rPr lang="en-US" altLang="ko-KR" sz="1300" b="0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00" b="0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현장 세팅</a:t>
                      </a:r>
                      <a:r>
                        <a:rPr lang="en-US" altLang="ko-KR" sz="1300" b="0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00" b="0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월간 튜닝까지 통합은 약할 수 있음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300" b="1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AX </a:t>
                      </a:r>
                      <a:r>
                        <a:rPr lang="ko-KR" altLang="en-US" sz="1300" b="1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상회</a:t>
                      </a:r>
                      <a:r>
                        <a:rPr lang="en-US" altLang="ko-KR" sz="1300" b="1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:</a:t>
                      </a:r>
                    </a:p>
                    <a:p>
                      <a:pPr algn="l" latinLnBrk="1"/>
                      <a:r>
                        <a:rPr lang="ko-KR" altLang="en-US" sz="1300" b="1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소프트웨어가 아니라 현장 정착과 운영 결과를 대행</a:t>
                      </a:r>
                    </a:p>
                  </a:txBody>
                  <a:tcPr anchor="ctr">
                    <a:solidFill>
                      <a:srgbClr val="FAEB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06513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2B65DC0-D111-CAB3-188E-329FA242779C}"/>
              </a:ext>
            </a:extLst>
          </p:cNvPr>
          <p:cNvSpPr txBox="1"/>
          <p:nvPr/>
        </p:nvSpPr>
        <p:spPr>
          <a:xfrm>
            <a:off x="508000" y="6350000"/>
            <a:ext cx="10541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출처</a:t>
            </a:r>
            <a:r>
              <a:rPr lang="en-US" altLang="ko-KR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워크시트 표</a:t>
            </a:r>
            <a:r>
              <a:rPr lang="en-US" altLang="ko-KR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42</a:t>
            </a:r>
            <a:endParaRPr lang="ko-KR" altLang="en-US" sz="1100" i="1">
              <a:solidFill>
                <a:srgbClr val="78787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8761D4-1DFB-8559-4A31-36B904107DE6}"/>
              </a:ext>
            </a:extLst>
          </p:cNvPr>
          <p:cNvSpPr txBox="1"/>
          <p:nvPr/>
        </p:nvSpPr>
        <p:spPr>
          <a:xfrm>
            <a:off x="11366500" y="6350000"/>
            <a:ext cx="38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altLang="ko-KR" sz="1100">
                <a:solidFill>
                  <a:srgbClr val="787878"/>
                </a:solidFill>
                <a:latin typeface="맑은 고딕" panose="020B0503020000020004" pitchFamily="50" charset="-127"/>
              </a:rPr>
              <a:t>7</a:t>
            </a:r>
            <a:endParaRPr lang="ko-KR" altLang="en-US" sz="1100">
              <a:solidFill>
                <a:srgbClr val="78787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2158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939146-97A9-1CEC-44C9-BCE4B538E60E}"/>
              </a:ext>
            </a:extLst>
          </p:cNvPr>
          <p:cNvSpPr txBox="1"/>
          <p:nvPr/>
        </p:nvSpPr>
        <p:spPr>
          <a:xfrm>
            <a:off x="508000" y="444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2000" b="1">
                <a:solidFill>
                  <a:srgbClr val="1E1E1E"/>
                </a:solidFill>
                <a:latin typeface="맑은 고딕" panose="020B0503020000020004" pitchFamily="50" charset="-127"/>
              </a:rPr>
              <a:t>AX </a:t>
            </a:r>
            <a:r>
              <a:rPr lang="ko-KR" altLang="en-US" sz="2000" b="1">
                <a:solidFill>
                  <a:srgbClr val="1E1E1E"/>
                </a:solidFill>
                <a:latin typeface="맑은 고딕" panose="020B0503020000020004" pitchFamily="50" charset="-127"/>
              </a:rPr>
              <a:t>상회의 진짜 경쟁자는 챗봇 회사만이 아니라 네이버 예약</a:t>
            </a:r>
            <a:r>
              <a:rPr lang="en-US" altLang="ko-KR" sz="2000" b="1">
                <a:solidFill>
                  <a:srgbClr val="1E1E1E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000" b="1">
                <a:solidFill>
                  <a:srgbClr val="1E1E1E"/>
                </a:solidFill>
                <a:latin typeface="맑은 고딕" panose="020B0503020000020004" pitchFamily="50" charset="-127"/>
              </a:rPr>
              <a:t>캐치테이블</a:t>
            </a:r>
            <a:r>
              <a:rPr lang="en-US" altLang="ko-KR" sz="2000" b="1">
                <a:solidFill>
                  <a:srgbClr val="1E1E1E"/>
                </a:solidFill>
                <a:latin typeface="맑은 고딕" panose="020B0503020000020004" pitchFamily="50" charset="-127"/>
              </a:rPr>
              <a:t>, POS </a:t>
            </a:r>
            <a:r>
              <a:rPr lang="ko-KR" altLang="en-US" sz="2000" b="1">
                <a:solidFill>
                  <a:srgbClr val="1E1E1E"/>
                </a:solidFill>
                <a:latin typeface="맑은 고딕" panose="020B0503020000020004" pitchFamily="50" charset="-127"/>
              </a:rPr>
              <a:t>부가기능</a:t>
            </a:r>
            <a:r>
              <a:rPr lang="en-US" altLang="ko-KR" sz="2000" b="1">
                <a:solidFill>
                  <a:srgbClr val="1E1E1E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000" b="1">
                <a:solidFill>
                  <a:srgbClr val="1E1E1E"/>
                </a:solidFill>
                <a:latin typeface="맑은 고딕" panose="020B0503020000020004" pitchFamily="50" charset="-127"/>
              </a:rPr>
              <a:t>직원 수동응대</a:t>
            </a:r>
            <a:r>
              <a:rPr lang="en-US" altLang="ko-KR" sz="2000" b="1">
                <a:solidFill>
                  <a:srgbClr val="1E1E1E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000" b="1">
                <a:solidFill>
                  <a:srgbClr val="1E1E1E"/>
                </a:solidFill>
                <a:latin typeface="맑은 고딕" panose="020B0503020000020004" pitchFamily="50" charset="-127"/>
              </a:rPr>
              <a:t>수기 메모</a:t>
            </a:r>
            <a:r>
              <a:rPr lang="en-US" altLang="ko-KR" sz="2000" b="1">
                <a:solidFill>
                  <a:srgbClr val="1E1E1E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000" b="1">
                <a:solidFill>
                  <a:srgbClr val="1E1E1E"/>
                </a:solidFill>
                <a:latin typeface="맑은 고딕" panose="020B0503020000020004" pitchFamily="50" charset="-127"/>
              </a:rPr>
              <a:t>그리고 </a:t>
            </a:r>
            <a:r>
              <a:rPr lang="en-US" altLang="ko-KR" sz="2000" b="1">
                <a:solidFill>
                  <a:srgbClr val="1E1E1E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2000" b="1">
                <a:solidFill>
                  <a:srgbClr val="1E1E1E"/>
                </a:solidFill>
                <a:latin typeface="맑은 고딕" panose="020B0503020000020004" pitchFamily="50" charset="-127"/>
              </a:rPr>
              <a:t>그냥 놓치는 것</a:t>
            </a:r>
            <a:r>
              <a:rPr lang="en-US" altLang="ko-KR" sz="2000" b="1">
                <a:solidFill>
                  <a:srgbClr val="1E1E1E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2000" b="1">
                <a:solidFill>
                  <a:srgbClr val="1E1E1E"/>
                </a:solidFill>
                <a:latin typeface="맑은 고딕" panose="020B0503020000020004" pitchFamily="50" charset="-127"/>
              </a:rPr>
              <a:t>이다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C762E70-9785-A7F7-41EE-9EB54E19BFA6}"/>
              </a:ext>
            </a:extLst>
          </p:cNvPr>
          <p:cNvSpPr/>
          <p:nvPr/>
        </p:nvSpPr>
        <p:spPr>
          <a:xfrm>
            <a:off x="508000" y="2413000"/>
            <a:ext cx="3302000" cy="203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8787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1300">
                <a:solidFill>
                  <a:srgbClr val="787878"/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300">
                <a:solidFill>
                  <a:srgbClr val="787878"/>
                </a:solidFill>
                <a:latin typeface="맑은 고딕" panose="020B0503020000020004" pitchFamily="50" charset="-127"/>
              </a:rPr>
              <a:t>이미지</a:t>
            </a:r>
            <a:r>
              <a:rPr lang="en-US" altLang="ko-KR" sz="1300">
                <a:solidFill>
                  <a:srgbClr val="787878"/>
                </a:solidFill>
                <a:latin typeface="맑은 고딕" panose="020B0503020000020004" pitchFamily="50" charset="-127"/>
              </a:rPr>
              <a:t>:</a:t>
            </a:r>
          </a:p>
          <a:p>
            <a:pPr algn="ctr"/>
            <a:r>
              <a:rPr lang="ko-KR" altLang="en-US" sz="1300">
                <a:solidFill>
                  <a:srgbClr val="787878"/>
                </a:solidFill>
                <a:latin typeface="맑은 고딕" panose="020B0503020000020004" pitchFamily="50" charset="-127"/>
              </a:rPr>
              <a:t>네이버 예약</a:t>
            </a:r>
          </a:p>
          <a:p>
            <a:pPr algn="ctr"/>
            <a:r>
              <a:rPr lang="ko-KR" altLang="en-US" sz="1300">
                <a:solidFill>
                  <a:srgbClr val="787878"/>
                </a:solidFill>
                <a:latin typeface="맑은 고딕" panose="020B0503020000020004" pitchFamily="50" charset="-127"/>
              </a:rPr>
              <a:t>예약 확인 </a:t>
            </a:r>
            <a:r>
              <a:rPr lang="en-US" altLang="ko-KR" sz="1300">
                <a:solidFill>
                  <a:srgbClr val="787878"/>
                </a:solidFill>
                <a:latin typeface="맑은 고딕" panose="020B0503020000020004" pitchFamily="50" charset="-127"/>
              </a:rPr>
              <a:t>UI]</a:t>
            </a:r>
            <a:endParaRPr lang="ko-KR" altLang="en-US" sz="1300">
              <a:solidFill>
                <a:srgbClr val="78787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758406-4DD1-6B26-5F1C-65A990C9676B}"/>
              </a:ext>
            </a:extLst>
          </p:cNvPr>
          <p:cNvSpPr txBox="1"/>
          <p:nvPr/>
        </p:nvSpPr>
        <p:spPr>
          <a:xfrm>
            <a:off x="508000" y="4572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1200">
                <a:solidFill>
                  <a:srgbClr val="5A5A5A"/>
                </a:solidFill>
                <a:latin typeface="맑은 고딕" panose="020B0503020000020004" pitchFamily="50" charset="-127"/>
              </a:rPr>
              <a:t>예약 리마인드 문구</a:t>
            </a:r>
            <a:r>
              <a:rPr lang="en-US" altLang="ko-KR" sz="1200">
                <a:solidFill>
                  <a:srgbClr val="5A5A5A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>
                <a:solidFill>
                  <a:srgbClr val="5A5A5A"/>
                </a:solidFill>
                <a:latin typeface="맑은 고딕" panose="020B0503020000020004" pitchFamily="50" charset="-127"/>
              </a:rPr>
              <a:t>타이밍 참고</a:t>
            </a:r>
          </a:p>
          <a:p>
            <a:pPr algn="ctr"/>
            <a:r>
              <a:rPr lang="ko-KR" altLang="en-US" sz="1200">
                <a:solidFill>
                  <a:srgbClr val="5A5A5A"/>
                </a:solidFill>
                <a:latin typeface="맑은 고딕" panose="020B0503020000020004" pitchFamily="50" charset="-127"/>
              </a:rPr>
              <a:t>출처</a:t>
            </a:r>
            <a:r>
              <a:rPr lang="en-US" altLang="ko-KR" sz="1200">
                <a:solidFill>
                  <a:srgbClr val="5A5A5A"/>
                </a:solidFill>
                <a:latin typeface="맑은 고딕" panose="020B0503020000020004" pitchFamily="50" charset="-127"/>
              </a:rPr>
              <a:t>: [</a:t>
            </a:r>
            <a:r>
              <a:rPr lang="ko-KR" altLang="en-US" sz="1200">
                <a:solidFill>
                  <a:srgbClr val="5A5A5A"/>
                </a:solidFill>
                <a:latin typeface="맑은 고딕" panose="020B0503020000020004" pitchFamily="50" charset="-127"/>
              </a:rPr>
              <a:t>확인 필요</a:t>
            </a:r>
            <a:r>
              <a:rPr lang="en-US" altLang="ko-KR" sz="1200">
                <a:solidFill>
                  <a:srgbClr val="5A5A5A"/>
                </a:solidFill>
                <a:latin typeface="맑은 고딕" panose="020B0503020000020004" pitchFamily="50" charset="-127"/>
              </a:rPr>
              <a:t>]</a:t>
            </a:r>
            <a:endParaRPr lang="ko-KR" altLang="en-US" sz="1200">
              <a:solidFill>
                <a:srgbClr val="5A5A5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CD15F0C-29E0-C306-F16E-E9C5D97765DA}"/>
              </a:ext>
            </a:extLst>
          </p:cNvPr>
          <p:cNvSpPr/>
          <p:nvPr/>
        </p:nvSpPr>
        <p:spPr>
          <a:xfrm>
            <a:off x="4445000" y="2413000"/>
            <a:ext cx="3302000" cy="203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8787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1300">
                <a:solidFill>
                  <a:srgbClr val="787878"/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300">
                <a:solidFill>
                  <a:srgbClr val="787878"/>
                </a:solidFill>
                <a:latin typeface="맑은 고딕" panose="020B0503020000020004" pitchFamily="50" charset="-127"/>
              </a:rPr>
              <a:t>이미지</a:t>
            </a:r>
            <a:r>
              <a:rPr lang="en-US" altLang="ko-KR" sz="1300">
                <a:solidFill>
                  <a:srgbClr val="787878"/>
                </a:solidFill>
                <a:latin typeface="맑은 고딕" panose="020B0503020000020004" pitchFamily="50" charset="-127"/>
              </a:rPr>
              <a:t>:</a:t>
            </a:r>
          </a:p>
          <a:p>
            <a:pPr algn="ctr"/>
            <a:r>
              <a:rPr lang="ko-KR" altLang="en-US" sz="1300">
                <a:solidFill>
                  <a:srgbClr val="787878"/>
                </a:solidFill>
                <a:latin typeface="맑은 고딕" panose="020B0503020000020004" pitchFamily="50" charset="-127"/>
              </a:rPr>
              <a:t>캐치테이블</a:t>
            </a:r>
          </a:p>
          <a:p>
            <a:pPr algn="ctr"/>
            <a:r>
              <a:rPr lang="ko-KR" altLang="en-US" sz="1300">
                <a:solidFill>
                  <a:srgbClr val="787878"/>
                </a:solidFill>
                <a:latin typeface="맑은 고딕" panose="020B0503020000020004" pitchFamily="50" charset="-127"/>
              </a:rPr>
              <a:t>노쇼 관리 기능</a:t>
            </a:r>
            <a:r>
              <a:rPr lang="en-US" altLang="ko-KR" sz="1300">
                <a:solidFill>
                  <a:srgbClr val="787878"/>
                </a:solidFill>
                <a:latin typeface="맑은 고딕" panose="020B0503020000020004" pitchFamily="50" charset="-127"/>
              </a:rPr>
              <a:t>]</a:t>
            </a:r>
            <a:endParaRPr lang="ko-KR" altLang="en-US" sz="1300">
              <a:solidFill>
                <a:srgbClr val="78787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46950C-A503-7AB4-0522-82664C33BFB7}"/>
              </a:ext>
            </a:extLst>
          </p:cNvPr>
          <p:cNvSpPr txBox="1"/>
          <p:nvPr/>
        </p:nvSpPr>
        <p:spPr>
          <a:xfrm>
            <a:off x="4445000" y="4572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1200">
                <a:solidFill>
                  <a:srgbClr val="5A5A5A"/>
                </a:solidFill>
                <a:latin typeface="맑은 고딕" panose="020B0503020000020004" pitchFamily="50" charset="-127"/>
              </a:rPr>
              <a:t>노쇼 방지 알림 설계 참고</a:t>
            </a:r>
          </a:p>
          <a:p>
            <a:pPr algn="ctr"/>
            <a:r>
              <a:rPr lang="ko-KR" altLang="en-US" sz="1200">
                <a:solidFill>
                  <a:srgbClr val="5A5A5A"/>
                </a:solidFill>
                <a:latin typeface="맑은 고딕" panose="020B0503020000020004" pitchFamily="50" charset="-127"/>
              </a:rPr>
              <a:t>출처</a:t>
            </a:r>
            <a:r>
              <a:rPr lang="en-US" altLang="ko-KR" sz="1200">
                <a:solidFill>
                  <a:srgbClr val="5A5A5A"/>
                </a:solidFill>
                <a:latin typeface="맑은 고딕" panose="020B0503020000020004" pitchFamily="50" charset="-127"/>
              </a:rPr>
              <a:t>: [</a:t>
            </a:r>
            <a:r>
              <a:rPr lang="ko-KR" altLang="en-US" sz="1200">
                <a:solidFill>
                  <a:srgbClr val="5A5A5A"/>
                </a:solidFill>
                <a:latin typeface="맑은 고딕" panose="020B0503020000020004" pitchFamily="50" charset="-127"/>
              </a:rPr>
              <a:t>확인 필요</a:t>
            </a:r>
            <a:r>
              <a:rPr lang="en-US" altLang="ko-KR" sz="1200">
                <a:solidFill>
                  <a:srgbClr val="5A5A5A"/>
                </a:solidFill>
                <a:latin typeface="맑은 고딕" panose="020B0503020000020004" pitchFamily="50" charset="-127"/>
              </a:rPr>
              <a:t>]</a:t>
            </a:r>
            <a:endParaRPr lang="ko-KR" altLang="en-US" sz="1200">
              <a:solidFill>
                <a:srgbClr val="5A5A5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A2FA0C0-9454-5CD8-E6CB-53B81E2155C1}"/>
              </a:ext>
            </a:extLst>
          </p:cNvPr>
          <p:cNvSpPr/>
          <p:nvPr/>
        </p:nvSpPr>
        <p:spPr>
          <a:xfrm>
            <a:off x="8382000" y="2413000"/>
            <a:ext cx="3302000" cy="203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8787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1300">
                <a:solidFill>
                  <a:srgbClr val="787878"/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300">
                <a:solidFill>
                  <a:srgbClr val="787878"/>
                </a:solidFill>
                <a:latin typeface="맑은 고딕" panose="020B0503020000020004" pitchFamily="50" charset="-127"/>
              </a:rPr>
              <a:t>이미지</a:t>
            </a:r>
            <a:r>
              <a:rPr lang="en-US" altLang="ko-KR" sz="1300">
                <a:solidFill>
                  <a:srgbClr val="787878"/>
                </a:solidFill>
                <a:latin typeface="맑은 고딕" panose="020B0503020000020004" pitchFamily="50" charset="-127"/>
              </a:rPr>
              <a:t>:</a:t>
            </a:r>
          </a:p>
          <a:p>
            <a:pPr algn="ctr"/>
            <a:r>
              <a:rPr lang="ko-KR" altLang="en-US" sz="1300">
                <a:solidFill>
                  <a:srgbClr val="787878"/>
                </a:solidFill>
                <a:latin typeface="맑은 고딕" panose="020B0503020000020004" pitchFamily="50" charset="-127"/>
              </a:rPr>
              <a:t>채널톡 등</a:t>
            </a:r>
          </a:p>
          <a:p>
            <a:pPr algn="ctr"/>
            <a:r>
              <a:rPr lang="ko-KR" altLang="en-US" sz="1300">
                <a:solidFill>
                  <a:srgbClr val="787878"/>
                </a:solidFill>
                <a:latin typeface="맑은 고딕" panose="020B0503020000020004" pitchFamily="50" charset="-127"/>
              </a:rPr>
              <a:t>챗봇 상담 </a:t>
            </a:r>
            <a:r>
              <a:rPr lang="en-US" altLang="ko-KR" sz="1300">
                <a:solidFill>
                  <a:srgbClr val="787878"/>
                </a:solidFill>
                <a:latin typeface="맑은 고딕" panose="020B0503020000020004" pitchFamily="50" charset="-127"/>
              </a:rPr>
              <a:t>UI]</a:t>
            </a:r>
            <a:endParaRPr lang="ko-KR" altLang="en-US" sz="1300">
              <a:solidFill>
                <a:srgbClr val="78787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F35400-82E0-3BAC-BF82-92C8F8E7FF4D}"/>
              </a:ext>
            </a:extLst>
          </p:cNvPr>
          <p:cNvSpPr txBox="1"/>
          <p:nvPr/>
        </p:nvSpPr>
        <p:spPr>
          <a:xfrm>
            <a:off x="8382000" y="45720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1200">
                <a:solidFill>
                  <a:srgbClr val="5A5A5A"/>
                </a:solidFill>
                <a:latin typeface="맑은 고딕" panose="020B0503020000020004" pitchFamily="50" charset="-127"/>
              </a:rPr>
              <a:t>운영자 승인</a:t>
            </a:r>
            <a:r>
              <a:rPr lang="en-US" altLang="ko-KR" sz="1200">
                <a:solidFill>
                  <a:srgbClr val="5A5A5A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200">
                <a:solidFill>
                  <a:srgbClr val="5A5A5A"/>
                </a:solidFill>
                <a:latin typeface="맑은 고딕" panose="020B0503020000020004" pitchFamily="50" charset="-127"/>
              </a:rPr>
              <a:t>이관 플로우 참고</a:t>
            </a:r>
          </a:p>
          <a:p>
            <a:pPr algn="ctr"/>
            <a:r>
              <a:rPr lang="ko-KR" altLang="en-US" sz="1200">
                <a:solidFill>
                  <a:srgbClr val="5A5A5A"/>
                </a:solidFill>
                <a:latin typeface="맑은 고딕" panose="020B0503020000020004" pitchFamily="50" charset="-127"/>
              </a:rPr>
              <a:t>출처</a:t>
            </a:r>
            <a:r>
              <a:rPr lang="en-US" altLang="ko-KR" sz="1200">
                <a:solidFill>
                  <a:srgbClr val="5A5A5A"/>
                </a:solidFill>
                <a:latin typeface="맑은 고딕" panose="020B0503020000020004" pitchFamily="50" charset="-127"/>
              </a:rPr>
              <a:t>: [</a:t>
            </a:r>
            <a:r>
              <a:rPr lang="ko-KR" altLang="en-US" sz="1200">
                <a:solidFill>
                  <a:srgbClr val="5A5A5A"/>
                </a:solidFill>
                <a:latin typeface="맑은 고딕" panose="020B0503020000020004" pitchFamily="50" charset="-127"/>
              </a:rPr>
              <a:t>확인 필요</a:t>
            </a:r>
            <a:r>
              <a:rPr lang="en-US" altLang="ko-KR" sz="1200">
                <a:solidFill>
                  <a:srgbClr val="5A5A5A"/>
                </a:solidFill>
                <a:latin typeface="맑은 고딕" panose="020B0503020000020004" pitchFamily="50" charset="-127"/>
              </a:rPr>
              <a:t>]</a:t>
            </a:r>
            <a:endParaRPr lang="ko-KR" altLang="en-US" sz="1200">
              <a:solidFill>
                <a:srgbClr val="5A5A5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5BD0E7-57C0-EAFE-AB8E-7FCA9773D9E9}"/>
              </a:ext>
            </a:extLst>
          </p:cNvPr>
          <p:cNvSpPr txBox="1"/>
          <p:nvPr/>
        </p:nvSpPr>
        <p:spPr>
          <a:xfrm>
            <a:off x="508000" y="6350000"/>
            <a:ext cx="10541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출처</a:t>
            </a:r>
            <a:r>
              <a:rPr lang="en-US" altLang="ko-KR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워크시트 표</a:t>
            </a:r>
            <a:r>
              <a:rPr lang="en-US" altLang="ko-KR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41, </a:t>
            </a:r>
            <a:r>
              <a:rPr lang="ko-KR" altLang="en-US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표</a:t>
            </a:r>
            <a:r>
              <a:rPr lang="en-US" altLang="ko-KR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61</a:t>
            </a:r>
            <a:endParaRPr lang="ko-KR" altLang="en-US" sz="1100" i="1">
              <a:solidFill>
                <a:srgbClr val="78787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2ED04E-20FD-00FA-20A1-67D07D107CBF}"/>
              </a:ext>
            </a:extLst>
          </p:cNvPr>
          <p:cNvSpPr txBox="1"/>
          <p:nvPr/>
        </p:nvSpPr>
        <p:spPr>
          <a:xfrm>
            <a:off x="11366500" y="6350000"/>
            <a:ext cx="38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altLang="ko-KR" sz="1100">
                <a:solidFill>
                  <a:srgbClr val="787878"/>
                </a:solidFill>
                <a:latin typeface="맑은 고딕" panose="020B0503020000020004" pitchFamily="50" charset="-127"/>
              </a:rPr>
              <a:t>8</a:t>
            </a:r>
            <a:endParaRPr lang="ko-KR" altLang="en-US" sz="1100">
              <a:solidFill>
                <a:srgbClr val="78787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4821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8F2BA6-94DC-757C-3BC4-ABB1446EF33B}"/>
              </a:ext>
            </a:extLst>
          </p:cNvPr>
          <p:cNvSpPr txBox="1"/>
          <p:nvPr/>
        </p:nvSpPr>
        <p:spPr>
          <a:xfrm>
            <a:off x="508000" y="444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2600" b="1">
                <a:solidFill>
                  <a:srgbClr val="1E1E1E"/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2600" b="1">
                <a:solidFill>
                  <a:srgbClr val="1E1E1E"/>
                </a:solidFill>
                <a:latin typeface="맑은 고딕" panose="020B0503020000020004" pitchFamily="50" charset="-127"/>
              </a:rPr>
              <a:t>주간 </a:t>
            </a:r>
            <a:r>
              <a:rPr lang="en-US" altLang="ko-KR" sz="2600" b="1">
                <a:solidFill>
                  <a:srgbClr val="1E1E1E"/>
                </a:solidFill>
                <a:latin typeface="맑은 고딕" panose="020B0503020000020004" pitchFamily="50" charset="-127"/>
              </a:rPr>
              <a:t>PoC </a:t>
            </a:r>
            <a:r>
              <a:rPr lang="ko-KR" altLang="en-US" sz="2600" b="1">
                <a:solidFill>
                  <a:srgbClr val="1E1E1E"/>
                </a:solidFill>
                <a:latin typeface="맑은 고딕" panose="020B0503020000020004" pitchFamily="50" charset="-127"/>
              </a:rPr>
              <a:t>매장 </a:t>
            </a:r>
            <a:r>
              <a:rPr lang="en-US" altLang="ko-KR" sz="2600" b="1">
                <a:solidFill>
                  <a:srgbClr val="1E1E1E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2600" b="1">
                <a:solidFill>
                  <a:srgbClr val="1E1E1E"/>
                </a:solidFill>
                <a:latin typeface="맑은 고딕" panose="020B0503020000020004" pitchFamily="50" charset="-127"/>
              </a:rPr>
              <a:t>곳에 컨시어지 방식으로 직접 운영해 확인한다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AB67A72-68BD-C697-A0C0-2EA91AA8A9C3}"/>
              </a:ext>
            </a:extLst>
          </p:cNvPr>
          <p:cNvSpPr/>
          <p:nvPr/>
        </p:nvSpPr>
        <p:spPr>
          <a:xfrm>
            <a:off x="508000" y="2413000"/>
            <a:ext cx="11176000" cy="1143000"/>
          </a:xfrm>
          <a:prstGeom prst="round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>
                <a:solidFill>
                  <a:srgbClr val="1E1E1E"/>
                </a:solidFill>
                <a:latin typeface="맑은 고딕" panose="020B0503020000020004" pitchFamily="50" charset="-127"/>
              </a:rPr>
              <a:t>방법</a:t>
            </a:r>
            <a:r>
              <a:rPr lang="en-US" altLang="ko-KR" sz="1600">
                <a:solidFill>
                  <a:srgbClr val="1E1E1E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600">
                <a:solidFill>
                  <a:srgbClr val="1E1E1E"/>
                </a:solidFill>
                <a:latin typeface="맑은 고딕" panose="020B0503020000020004" pitchFamily="50" charset="-127"/>
              </a:rPr>
              <a:t>컨시어지 </a:t>
            </a:r>
            <a:r>
              <a:rPr lang="en-US" altLang="ko-KR" sz="1600">
                <a:solidFill>
                  <a:srgbClr val="1E1E1E"/>
                </a:solidFill>
                <a:latin typeface="맑은 고딕" panose="020B0503020000020004" pitchFamily="50" charset="-127"/>
              </a:rPr>
              <a:t>PoC — </a:t>
            </a:r>
            <a:r>
              <a:rPr lang="ko-KR" altLang="en-US" sz="1600">
                <a:solidFill>
                  <a:srgbClr val="1E1E1E"/>
                </a:solidFill>
                <a:latin typeface="맑은 고딕" panose="020B0503020000020004" pitchFamily="50" charset="-127"/>
              </a:rPr>
              <a:t>제품 없이 사람</a:t>
            </a:r>
            <a:r>
              <a:rPr lang="en-US" altLang="ko-KR" sz="1600">
                <a:solidFill>
                  <a:srgbClr val="1E1E1E"/>
                </a:solidFill>
                <a:latin typeface="맑은 고딕" panose="020B0503020000020004" pitchFamily="50" charset="-127"/>
              </a:rPr>
              <a:t>(AX </a:t>
            </a:r>
            <a:r>
              <a:rPr lang="ko-KR" altLang="en-US" sz="1600">
                <a:solidFill>
                  <a:srgbClr val="1E1E1E"/>
                </a:solidFill>
                <a:latin typeface="맑은 고딕" panose="020B0503020000020004" pitchFamily="50" charset="-127"/>
              </a:rPr>
              <a:t>운영자</a:t>
            </a:r>
            <a:r>
              <a:rPr lang="en-US" altLang="ko-KR" sz="1600">
                <a:solidFill>
                  <a:srgbClr val="1E1E1E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600">
                <a:solidFill>
                  <a:srgbClr val="1E1E1E"/>
                </a:solidFill>
                <a:latin typeface="맑은 고딕" panose="020B0503020000020004" pitchFamily="50" charset="-127"/>
              </a:rPr>
              <a:t>이 직접 세팅</a:t>
            </a:r>
            <a:r>
              <a:rPr lang="en-US" altLang="ko-KR" sz="1600">
                <a:solidFill>
                  <a:srgbClr val="1E1E1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600">
                <a:solidFill>
                  <a:srgbClr val="1E1E1E"/>
                </a:solidFill>
                <a:latin typeface="맑은 고딕" panose="020B0503020000020004" pitchFamily="50" charset="-127"/>
              </a:rPr>
              <a:t>운영하며 대시보드로 </a:t>
            </a:r>
            <a:r>
              <a:rPr lang="en-US" altLang="ko-KR" sz="1600">
                <a:solidFill>
                  <a:srgbClr val="1E1E1E"/>
                </a:solidFill>
                <a:latin typeface="맑은 고딕" panose="020B0503020000020004" pitchFamily="50" charset="-127"/>
              </a:rPr>
              <a:t>Before/After</a:t>
            </a:r>
            <a:r>
              <a:rPr lang="ko-KR" altLang="en-US" sz="1600">
                <a:solidFill>
                  <a:srgbClr val="1E1E1E"/>
                </a:solidFill>
                <a:latin typeface="맑은 고딕" panose="020B0503020000020004" pitchFamily="50" charset="-127"/>
              </a:rPr>
              <a:t>를 측정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CB56EE1-788B-3D7F-8C89-1954CF41350C}"/>
              </a:ext>
            </a:extLst>
          </p:cNvPr>
          <p:cNvSpPr/>
          <p:nvPr/>
        </p:nvSpPr>
        <p:spPr>
          <a:xfrm>
            <a:off x="508000" y="3810000"/>
            <a:ext cx="11176000" cy="1143000"/>
          </a:xfrm>
          <a:prstGeom prst="round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>
                <a:solidFill>
                  <a:srgbClr val="1E1E1E"/>
                </a:solidFill>
                <a:latin typeface="맑은 고딕" panose="020B0503020000020004" pitchFamily="50" charset="-127"/>
              </a:rPr>
              <a:t>대상</a:t>
            </a:r>
            <a:r>
              <a:rPr lang="en-US" altLang="ko-KR" sz="1600">
                <a:solidFill>
                  <a:srgbClr val="1E1E1E"/>
                </a:solidFill>
                <a:latin typeface="맑은 고딕" panose="020B0503020000020004" pitchFamily="50" charset="-127"/>
              </a:rPr>
              <a:t>: PoC </a:t>
            </a:r>
            <a:r>
              <a:rPr lang="ko-KR" altLang="en-US" sz="1600">
                <a:solidFill>
                  <a:srgbClr val="1E1E1E"/>
                </a:solidFill>
                <a:latin typeface="맑은 고딕" panose="020B0503020000020004" pitchFamily="50" charset="-127"/>
              </a:rPr>
              <a:t>매장 </a:t>
            </a:r>
            <a:r>
              <a:rPr lang="en-US" altLang="ko-KR" sz="1600">
                <a:solidFill>
                  <a:srgbClr val="1E1E1E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600">
                <a:solidFill>
                  <a:srgbClr val="1E1E1E"/>
                </a:solidFill>
                <a:latin typeface="맑은 고딕" panose="020B0503020000020004" pitchFamily="50" charset="-127"/>
              </a:rPr>
              <a:t>곳</a:t>
            </a:r>
            <a:r>
              <a:rPr lang="en-US" altLang="ko-KR" sz="1600">
                <a:solidFill>
                  <a:srgbClr val="1E1E1E"/>
                </a:solidFill>
                <a:latin typeface="맑은 고딕" panose="020B0503020000020004" pitchFamily="50" charset="-127"/>
              </a:rPr>
              <a:t>, 2</a:t>
            </a:r>
            <a:r>
              <a:rPr lang="ko-KR" altLang="en-US" sz="1600">
                <a:solidFill>
                  <a:srgbClr val="1E1E1E"/>
                </a:solidFill>
                <a:latin typeface="맑은 고딕" panose="020B0503020000020004" pitchFamily="50" charset="-127"/>
              </a:rPr>
              <a:t>주 운영</a:t>
            </a:r>
            <a:r>
              <a:rPr lang="en-US" altLang="ko-KR" sz="1600">
                <a:solidFill>
                  <a:srgbClr val="1E1E1E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600">
                <a:solidFill>
                  <a:srgbClr val="1E1E1E"/>
                </a:solidFill>
                <a:latin typeface="맑은 고딕" panose="020B0503020000020004" pitchFamily="50" charset="-127"/>
              </a:rPr>
              <a:t>가능하면 유사 매장 </a:t>
            </a:r>
            <a:r>
              <a:rPr lang="en-US" altLang="ko-KR" sz="1600">
                <a:solidFill>
                  <a:srgbClr val="1E1E1E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600">
                <a:solidFill>
                  <a:srgbClr val="1E1E1E"/>
                </a:solidFill>
                <a:latin typeface="맑은 고딕" panose="020B0503020000020004" pitchFamily="50" charset="-127"/>
              </a:rPr>
              <a:t>곳을 비교군으로 관찰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55EC6C-DE7C-C58C-F7FB-FC927F926A46}"/>
              </a:ext>
            </a:extLst>
          </p:cNvPr>
          <p:cNvSpPr txBox="1"/>
          <p:nvPr/>
        </p:nvSpPr>
        <p:spPr>
          <a:xfrm>
            <a:off x="508000" y="6350000"/>
            <a:ext cx="10541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출처</a:t>
            </a:r>
            <a:r>
              <a:rPr lang="en-US" altLang="ko-KR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워크시트 표</a:t>
            </a:r>
            <a:r>
              <a:rPr lang="en-US" altLang="ko-KR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77(R4 </a:t>
            </a:r>
            <a:r>
              <a:rPr lang="ko-KR" altLang="en-US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체크</a:t>
            </a:r>
            <a:r>
              <a:rPr lang="en-US" altLang="ko-KR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), </a:t>
            </a:r>
            <a:r>
              <a:rPr lang="ko-KR" altLang="en-US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표</a:t>
            </a:r>
            <a:r>
              <a:rPr lang="en-US" altLang="ko-KR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81</a:t>
            </a:r>
            <a:endParaRPr lang="ko-KR" altLang="en-US" sz="1100" i="1">
              <a:solidFill>
                <a:srgbClr val="78787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6D9295-21B7-D82F-788A-B8CAF04D949D}"/>
              </a:ext>
            </a:extLst>
          </p:cNvPr>
          <p:cNvSpPr txBox="1"/>
          <p:nvPr/>
        </p:nvSpPr>
        <p:spPr>
          <a:xfrm>
            <a:off x="11366500" y="6350000"/>
            <a:ext cx="38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altLang="ko-KR" sz="1100">
                <a:solidFill>
                  <a:srgbClr val="787878"/>
                </a:solidFill>
                <a:latin typeface="맑은 고딕" panose="020B0503020000020004" pitchFamily="50" charset="-127"/>
              </a:rPr>
              <a:t>9</a:t>
            </a:r>
            <a:endParaRPr lang="ko-KR" altLang="en-US" sz="1100">
              <a:solidFill>
                <a:srgbClr val="78787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4338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2D8B85-2670-50E6-FEAE-907EF8978949}"/>
              </a:ext>
            </a:extLst>
          </p:cNvPr>
          <p:cNvSpPr txBox="1"/>
          <p:nvPr/>
        </p:nvSpPr>
        <p:spPr>
          <a:xfrm>
            <a:off x="508000" y="444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400" b="1">
                <a:solidFill>
                  <a:srgbClr val="1E1E1E"/>
                </a:solidFill>
                <a:latin typeface="맑은 고딕" panose="020B0503020000020004" pitchFamily="50" charset="-127"/>
              </a:rPr>
              <a:t>핵심 지표 </a:t>
            </a:r>
            <a:r>
              <a:rPr lang="en-US" altLang="ko-KR" sz="2400" b="1">
                <a:solidFill>
                  <a:srgbClr val="1E1E1E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2400" b="1">
                <a:solidFill>
                  <a:srgbClr val="1E1E1E"/>
                </a:solidFill>
                <a:latin typeface="맑은 고딕" panose="020B0503020000020004" pitchFamily="50" charset="-127"/>
              </a:rPr>
              <a:t>개 개선 </a:t>
            </a:r>
            <a:r>
              <a:rPr lang="en-US" altLang="ko-KR" sz="2400" b="1">
                <a:solidFill>
                  <a:srgbClr val="1E1E1E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2400" b="1">
                <a:solidFill>
                  <a:srgbClr val="1E1E1E"/>
                </a:solidFill>
                <a:latin typeface="맑은 고딕" panose="020B0503020000020004" pitchFamily="50" charset="-127"/>
              </a:rPr>
              <a:t>유료 전환 </a:t>
            </a:r>
            <a:r>
              <a:rPr lang="en-US" altLang="ko-KR" sz="2400" b="1">
                <a:solidFill>
                  <a:srgbClr val="1E1E1E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2400" b="1">
                <a:solidFill>
                  <a:srgbClr val="1E1E1E"/>
                </a:solidFill>
                <a:latin typeface="맑은 고딕" panose="020B0503020000020004" pitchFamily="50" charset="-127"/>
              </a:rPr>
              <a:t>건이면 성공</a:t>
            </a:r>
            <a:r>
              <a:rPr lang="en-US" altLang="ko-KR" sz="2400" b="1">
                <a:solidFill>
                  <a:srgbClr val="1E1E1E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400" b="1">
                <a:solidFill>
                  <a:srgbClr val="1E1E1E"/>
                </a:solidFill>
                <a:latin typeface="맑은 고딕" panose="020B0503020000020004" pitchFamily="50" charset="-127"/>
              </a:rPr>
              <a:t>클레임 반복이면 중단이다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4D784F1-E7BF-27D2-C38A-6521390D1408}"/>
              </a:ext>
            </a:extLst>
          </p:cNvPr>
          <p:cNvSpPr/>
          <p:nvPr/>
        </p:nvSpPr>
        <p:spPr>
          <a:xfrm>
            <a:off x="508000" y="2413000"/>
            <a:ext cx="5334000" cy="3302000"/>
          </a:xfrm>
          <a:prstGeom prst="roundRect">
            <a:avLst/>
          </a:prstGeom>
          <a:solidFill>
            <a:srgbClr val="FAEB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>
                <a:solidFill>
                  <a:srgbClr val="B22234"/>
                </a:solidFill>
                <a:latin typeface="맑은 고딕" panose="020B0503020000020004" pitchFamily="50" charset="-127"/>
              </a:rPr>
              <a:t>성공 기준</a:t>
            </a:r>
          </a:p>
          <a:p>
            <a:endParaRPr lang="ko-KR" altLang="en-US" sz="1600">
              <a:solidFill>
                <a:srgbClr val="1E1E1E"/>
              </a:solidFill>
              <a:latin typeface="맑은 고딕" panose="020B0503020000020004" pitchFamily="50" charset="-127"/>
            </a:endParaRPr>
          </a:p>
          <a:p>
            <a:r>
              <a:rPr lang="en-US" altLang="ko-KR" sz="1600">
                <a:solidFill>
                  <a:srgbClr val="1E1E1E"/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1600">
                <a:solidFill>
                  <a:srgbClr val="1E1E1E"/>
                </a:solidFill>
                <a:latin typeface="맑은 고딕" panose="020B0503020000020004" pitchFamily="50" charset="-127"/>
              </a:rPr>
              <a:t>주 내 핵심 지표 </a:t>
            </a:r>
            <a:r>
              <a:rPr lang="en-US" altLang="ko-KR" sz="1600">
                <a:solidFill>
                  <a:srgbClr val="1E1E1E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600">
                <a:solidFill>
                  <a:srgbClr val="1E1E1E"/>
                </a:solidFill>
                <a:latin typeface="맑은 고딕" panose="020B0503020000020004" pitchFamily="50" charset="-127"/>
              </a:rPr>
              <a:t>개 이상 개선 </a:t>
            </a:r>
            <a:r>
              <a:rPr lang="en-US" altLang="ko-KR" sz="1600">
                <a:solidFill>
                  <a:srgbClr val="1E1E1E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600">
                <a:solidFill>
                  <a:srgbClr val="1E1E1E"/>
                </a:solidFill>
                <a:latin typeface="맑은 고딕" panose="020B0503020000020004" pitchFamily="50" charset="-127"/>
              </a:rPr>
              <a:t>유료 전환</a:t>
            </a:r>
            <a:r>
              <a:rPr lang="en-US" altLang="ko-KR" sz="1600">
                <a:solidFill>
                  <a:srgbClr val="1E1E1E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600">
                <a:solidFill>
                  <a:srgbClr val="1E1E1E"/>
                </a:solidFill>
                <a:latin typeface="맑은 고딕" panose="020B0503020000020004" pitchFamily="50" charset="-127"/>
              </a:rPr>
              <a:t>추천 의향 </a:t>
            </a:r>
            <a:r>
              <a:rPr lang="en-US" altLang="ko-KR" sz="1600">
                <a:solidFill>
                  <a:srgbClr val="1E1E1E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600">
                <a:solidFill>
                  <a:srgbClr val="1E1E1E"/>
                </a:solidFill>
                <a:latin typeface="맑은 고딕" panose="020B0503020000020004" pitchFamily="50" charset="-127"/>
              </a:rPr>
              <a:t>건 이상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5E45132-E7CB-214B-380B-B05A25409453}"/>
              </a:ext>
            </a:extLst>
          </p:cNvPr>
          <p:cNvSpPr/>
          <p:nvPr/>
        </p:nvSpPr>
        <p:spPr>
          <a:xfrm>
            <a:off x="6350000" y="2413000"/>
            <a:ext cx="5334000" cy="3302000"/>
          </a:xfrm>
          <a:prstGeom prst="round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>
                <a:solidFill>
                  <a:srgbClr val="5A5A5A"/>
                </a:solidFill>
                <a:latin typeface="맑은 고딕" panose="020B0503020000020004" pitchFamily="50" charset="-127"/>
              </a:rPr>
              <a:t>중단 기준</a:t>
            </a:r>
          </a:p>
          <a:p>
            <a:endParaRPr lang="ko-KR" altLang="en-US" sz="1600">
              <a:solidFill>
                <a:srgbClr val="1E1E1E"/>
              </a:solidFill>
              <a:latin typeface="맑은 고딕" panose="020B0503020000020004" pitchFamily="50" charset="-127"/>
            </a:endParaRPr>
          </a:p>
          <a:p>
            <a:r>
              <a:rPr lang="ko-KR" altLang="en-US" sz="1600">
                <a:solidFill>
                  <a:srgbClr val="1E1E1E"/>
                </a:solidFill>
                <a:latin typeface="맑은 고딕" panose="020B0503020000020004" pitchFamily="50" charset="-127"/>
              </a:rPr>
              <a:t>세팅 </a:t>
            </a:r>
            <a:r>
              <a:rPr lang="en-US" altLang="ko-KR" sz="1600">
                <a:solidFill>
                  <a:srgbClr val="1E1E1E"/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1600">
                <a:solidFill>
                  <a:srgbClr val="1E1E1E"/>
                </a:solidFill>
                <a:latin typeface="맑은 고딕" panose="020B0503020000020004" pitchFamily="50" charset="-127"/>
              </a:rPr>
              <a:t>시간 이상 소요 또는 고객 클레임 반복 시 범위 축소</a:t>
            </a:r>
            <a:r>
              <a:rPr lang="en-US" altLang="ko-KR" sz="1600">
                <a:solidFill>
                  <a:srgbClr val="1E1E1E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600">
                <a:solidFill>
                  <a:srgbClr val="1E1E1E"/>
                </a:solidFill>
                <a:latin typeface="맑은 고딕" panose="020B0503020000020004" pitchFamily="50" charset="-127"/>
              </a:rPr>
              <a:t>타겟 재정의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E75E9D-1D6E-E2DF-70C5-9DC798DD54AF}"/>
              </a:ext>
            </a:extLst>
          </p:cNvPr>
          <p:cNvSpPr txBox="1"/>
          <p:nvPr/>
        </p:nvSpPr>
        <p:spPr>
          <a:xfrm>
            <a:off x="508000" y="6350000"/>
            <a:ext cx="10541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출처</a:t>
            </a:r>
            <a:r>
              <a:rPr lang="en-US" altLang="ko-KR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워크시트 표</a:t>
            </a:r>
            <a:r>
              <a:rPr lang="en-US" altLang="ko-KR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78(R7·R8)</a:t>
            </a:r>
            <a:endParaRPr lang="ko-KR" altLang="en-US" sz="1100" i="1">
              <a:solidFill>
                <a:srgbClr val="78787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098F2C-6E14-E20E-E666-FC8470D8D414}"/>
              </a:ext>
            </a:extLst>
          </p:cNvPr>
          <p:cNvSpPr txBox="1"/>
          <p:nvPr/>
        </p:nvSpPr>
        <p:spPr>
          <a:xfrm>
            <a:off x="11366500" y="6350000"/>
            <a:ext cx="38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altLang="ko-KR" sz="1100">
                <a:solidFill>
                  <a:srgbClr val="787878"/>
                </a:solidFill>
                <a:latin typeface="맑은 고딕" panose="020B0503020000020004" pitchFamily="50" charset="-127"/>
              </a:rPr>
              <a:t>10</a:t>
            </a:r>
            <a:endParaRPr lang="ko-KR" altLang="en-US" sz="1100">
              <a:solidFill>
                <a:srgbClr val="78787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0071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E5AA30-9DBB-B113-8AEA-6B1EDEC71D68}"/>
              </a:ext>
            </a:extLst>
          </p:cNvPr>
          <p:cNvSpPr txBox="1"/>
          <p:nvPr/>
        </p:nvSpPr>
        <p:spPr>
          <a:xfrm>
            <a:off x="508000" y="444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2600" b="1">
                <a:solidFill>
                  <a:srgbClr val="1E1E1E"/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2600" b="1">
                <a:solidFill>
                  <a:srgbClr val="1E1E1E"/>
                </a:solidFill>
                <a:latin typeface="맑은 고딕" panose="020B0503020000020004" pitchFamily="50" charset="-127"/>
              </a:rPr>
              <a:t>주 안에 </a:t>
            </a:r>
            <a:r>
              <a:rPr lang="en-US" altLang="ko-KR" sz="2600" b="1">
                <a:solidFill>
                  <a:srgbClr val="1E1E1E"/>
                </a:solidFill>
                <a:latin typeface="맑은 고딕" panose="020B0503020000020004" pitchFamily="50" charset="-127"/>
              </a:rPr>
              <a:t>PoC </a:t>
            </a:r>
            <a:r>
              <a:rPr lang="ko-KR" altLang="en-US" sz="2600" b="1">
                <a:solidFill>
                  <a:srgbClr val="1E1E1E"/>
                </a:solidFill>
                <a:latin typeface="맑은 고딕" panose="020B0503020000020004" pitchFamily="50" charset="-127"/>
              </a:rPr>
              <a:t>매장 </a:t>
            </a:r>
            <a:r>
              <a:rPr lang="en-US" altLang="ko-KR" sz="2600" b="1">
                <a:solidFill>
                  <a:srgbClr val="1E1E1E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2600" b="1">
                <a:solidFill>
                  <a:srgbClr val="1E1E1E"/>
                </a:solidFill>
                <a:latin typeface="맑은 고딕" panose="020B0503020000020004" pitchFamily="50" charset="-127"/>
              </a:rPr>
              <a:t>곳에서 핵심 지표 개선을 확인한다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0E49735-8C37-9AA2-66C9-D3491D044395}"/>
              </a:ext>
            </a:extLst>
          </p:cNvPr>
          <p:cNvSpPr/>
          <p:nvPr/>
        </p:nvSpPr>
        <p:spPr>
          <a:xfrm>
            <a:off x="762000" y="3810000"/>
            <a:ext cx="10668000" cy="76200"/>
          </a:xfrm>
          <a:prstGeom prst="roundRect">
            <a:avLst/>
          </a:prstGeom>
          <a:solidFill>
            <a:srgbClr val="5A5A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003DD49-BE90-2E81-EB0C-1078C4068F57}"/>
              </a:ext>
            </a:extLst>
          </p:cNvPr>
          <p:cNvSpPr/>
          <p:nvPr/>
        </p:nvSpPr>
        <p:spPr>
          <a:xfrm>
            <a:off x="2032000" y="3683000"/>
            <a:ext cx="304800" cy="304800"/>
          </a:xfrm>
          <a:prstGeom prst="roundRect">
            <a:avLst/>
          </a:prstGeom>
          <a:solidFill>
            <a:srgbClr val="B222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553DE2D-C47C-25C1-8D81-7CF6A7528AFE}"/>
              </a:ext>
            </a:extLst>
          </p:cNvPr>
          <p:cNvSpPr/>
          <p:nvPr/>
        </p:nvSpPr>
        <p:spPr>
          <a:xfrm>
            <a:off x="762000" y="4191000"/>
            <a:ext cx="3048000" cy="1651000"/>
          </a:xfrm>
          <a:prstGeom prst="round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B22234"/>
                </a:solidFill>
                <a:latin typeface="맑은 고딕" panose="020B0503020000020004" pitchFamily="50" charset="-127"/>
              </a:rPr>
              <a:t>D-3~D0</a:t>
            </a:r>
          </a:p>
          <a:p>
            <a:pPr algn="ctr"/>
            <a:r>
              <a:rPr lang="ko-KR" altLang="en-US" sz="1400">
                <a:solidFill>
                  <a:srgbClr val="1E1E1E"/>
                </a:solidFill>
                <a:latin typeface="맑은 고딕" panose="020B0503020000020004" pitchFamily="50" charset="-127"/>
              </a:rPr>
              <a:t>매장 선정</a:t>
            </a:r>
            <a:r>
              <a:rPr lang="en-US" altLang="ko-KR" sz="1400">
                <a:solidFill>
                  <a:srgbClr val="1E1E1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E1E1E"/>
                </a:solidFill>
                <a:latin typeface="맑은 고딕" panose="020B0503020000020004" pitchFamily="50" charset="-127"/>
              </a:rPr>
              <a:t>동의서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FCD1037-C9CF-E076-98C2-26AD001BD541}"/>
              </a:ext>
            </a:extLst>
          </p:cNvPr>
          <p:cNvSpPr/>
          <p:nvPr/>
        </p:nvSpPr>
        <p:spPr>
          <a:xfrm>
            <a:off x="5969000" y="3683000"/>
            <a:ext cx="304800" cy="304800"/>
          </a:xfrm>
          <a:prstGeom prst="roundRect">
            <a:avLst/>
          </a:prstGeom>
          <a:solidFill>
            <a:srgbClr val="B222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2CD0BE3-FDB8-3C14-D042-F4A951E3D9F0}"/>
              </a:ext>
            </a:extLst>
          </p:cNvPr>
          <p:cNvSpPr/>
          <p:nvPr/>
        </p:nvSpPr>
        <p:spPr>
          <a:xfrm>
            <a:off x="4699000" y="4191000"/>
            <a:ext cx="3048000" cy="1651000"/>
          </a:xfrm>
          <a:prstGeom prst="round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B22234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500" b="1">
                <a:solidFill>
                  <a:srgbClr val="B22234"/>
                </a:solidFill>
                <a:latin typeface="맑은 고딕" panose="020B0503020000020004" pitchFamily="50" charset="-127"/>
              </a:rPr>
              <a:t>주차</a:t>
            </a:r>
          </a:p>
          <a:p>
            <a:pPr algn="ctr"/>
            <a:r>
              <a:rPr lang="ko-KR" altLang="en-US" sz="1400">
                <a:solidFill>
                  <a:srgbClr val="1E1E1E"/>
                </a:solidFill>
                <a:latin typeface="맑은 고딕" panose="020B0503020000020004" pitchFamily="50" charset="-127"/>
              </a:rPr>
              <a:t>현장 세팅</a:t>
            </a:r>
            <a:r>
              <a:rPr lang="en-US" altLang="ko-KR" sz="1400">
                <a:solidFill>
                  <a:srgbClr val="1E1E1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E1E1E"/>
                </a:solidFill>
                <a:latin typeface="맑은 고딕" panose="020B0503020000020004" pitchFamily="50" charset="-127"/>
              </a:rPr>
              <a:t>직원 교육 </a:t>
            </a:r>
            <a:r>
              <a:rPr lang="en-US" altLang="ko-KR" sz="1400">
                <a:solidFill>
                  <a:srgbClr val="1E1E1E"/>
                </a:solidFill>
                <a:latin typeface="맑은 고딕" panose="020B0503020000020004" pitchFamily="50" charset="-127"/>
              </a:rPr>
              <a:t>30~60</a:t>
            </a:r>
            <a:r>
              <a:rPr lang="ko-KR" altLang="en-US" sz="1400">
                <a:solidFill>
                  <a:srgbClr val="1E1E1E"/>
                </a:solidFill>
                <a:latin typeface="맑은 고딕" panose="020B0503020000020004" pitchFamily="50" charset="-127"/>
              </a:rPr>
              <a:t>분</a:t>
            </a:r>
            <a:r>
              <a:rPr lang="en-US" altLang="ko-KR" sz="1400">
                <a:solidFill>
                  <a:srgbClr val="1E1E1E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E1E1E"/>
                </a:solidFill>
                <a:latin typeface="맑은 고딕" panose="020B0503020000020004" pitchFamily="50" charset="-127"/>
              </a:rPr>
              <a:t>초기 로그 점검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C94F626-55E9-8E03-D3C8-58704E2D9E68}"/>
              </a:ext>
            </a:extLst>
          </p:cNvPr>
          <p:cNvSpPr/>
          <p:nvPr/>
        </p:nvSpPr>
        <p:spPr>
          <a:xfrm>
            <a:off x="9652000" y="3683000"/>
            <a:ext cx="304800" cy="304800"/>
          </a:xfrm>
          <a:prstGeom prst="roundRect">
            <a:avLst/>
          </a:prstGeom>
          <a:solidFill>
            <a:srgbClr val="B222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4917D82-496B-1DD3-9C3B-83E37322313E}"/>
              </a:ext>
            </a:extLst>
          </p:cNvPr>
          <p:cNvSpPr/>
          <p:nvPr/>
        </p:nvSpPr>
        <p:spPr>
          <a:xfrm>
            <a:off x="8382000" y="4191000"/>
            <a:ext cx="3048000" cy="1651000"/>
          </a:xfrm>
          <a:prstGeom prst="round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B22234"/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1500" b="1">
                <a:solidFill>
                  <a:srgbClr val="B22234"/>
                </a:solidFill>
                <a:latin typeface="맑은 고딕" panose="020B0503020000020004" pitchFamily="50" charset="-127"/>
              </a:rPr>
              <a:t>주차</a:t>
            </a:r>
          </a:p>
          <a:p>
            <a:pPr algn="ctr"/>
            <a:r>
              <a:rPr lang="ko-KR" altLang="en-US" sz="1400">
                <a:solidFill>
                  <a:srgbClr val="1E1E1E"/>
                </a:solidFill>
                <a:latin typeface="맑은 고딕" panose="020B0503020000020004" pitchFamily="50" charset="-127"/>
              </a:rPr>
              <a:t>정상 운영</a:t>
            </a:r>
            <a:r>
              <a:rPr lang="en-US" altLang="ko-KR" sz="1400">
                <a:solidFill>
                  <a:srgbClr val="1E1E1E"/>
                </a:solidFill>
                <a:latin typeface="맑은 고딕" panose="020B0503020000020004" pitchFamily="50" charset="-127"/>
              </a:rPr>
              <a:t>·Before/After </a:t>
            </a:r>
            <a:r>
              <a:rPr lang="ko-KR" altLang="en-US" sz="1400">
                <a:solidFill>
                  <a:srgbClr val="1E1E1E"/>
                </a:solidFill>
                <a:latin typeface="맑은 고딕" panose="020B0503020000020004" pitchFamily="50" charset="-127"/>
              </a:rPr>
              <a:t>비교</a:t>
            </a:r>
            <a:r>
              <a:rPr lang="en-US" altLang="ko-KR" sz="1400">
                <a:solidFill>
                  <a:srgbClr val="1E1E1E"/>
                </a:solidFill>
                <a:latin typeface="맑은 고딕" panose="020B0503020000020004" pitchFamily="50" charset="-127"/>
              </a:rPr>
              <a:t>·PoC </a:t>
            </a:r>
            <a:r>
              <a:rPr lang="ko-KR" altLang="en-US" sz="1400">
                <a:solidFill>
                  <a:srgbClr val="1E1E1E"/>
                </a:solidFill>
                <a:latin typeface="맑은 고딕" panose="020B0503020000020004" pitchFamily="50" charset="-127"/>
              </a:rPr>
              <a:t>리포트 작성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EE9BA7-6E2D-BCB7-7ED1-6AF788D72D51}"/>
              </a:ext>
            </a:extLst>
          </p:cNvPr>
          <p:cNvSpPr txBox="1"/>
          <p:nvPr/>
        </p:nvSpPr>
        <p:spPr>
          <a:xfrm>
            <a:off x="508000" y="6350000"/>
            <a:ext cx="10541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출처</a:t>
            </a:r>
            <a:r>
              <a:rPr lang="en-US" altLang="ko-KR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워크시트 표</a:t>
            </a:r>
            <a:r>
              <a:rPr lang="en-US" altLang="ko-KR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79</a:t>
            </a:r>
            <a:endParaRPr lang="ko-KR" altLang="en-US" sz="1100" i="1">
              <a:solidFill>
                <a:srgbClr val="78787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851D6A-EC4D-FC5D-8DC2-82EFA314F0D8}"/>
              </a:ext>
            </a:extLst>
          </p:cNvPr>
          <p:cNvSpPr txBox="1"/>
          <p:nvPr/>
        </p:nvSpPr>
        <p:spPr>
          <a:xfrm>
            <a:off x="11366500" y="6350000"/>
            <a:ext cx="38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altLang="ko-KR" sz="1100">
                <a:solidFill>
                  <a:srgbClr val="787878"/>
                </a:solidFill>
                <a:latin typeface="맑은 고딕" panose="020B0503020000020004" pitchFamily="50" charset="-127"/>
              </a:rPr>
              <a:t>11</a:t>
            </a:r>
            <a:endParaRPr lang="ko-KR" altLang="en-US" sz="1100">
              <a:solidFill>
                <a:srgbClr val="78787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1032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386CC8-C8C9-2815-0A9E-8477B4494CA1}"/>
              </a:ext>
            </a:extLst>
          </p:cNvPr>
          <p:cNvSpPr txBox="1"/>
          <p:nvPr/>
        </p:nvSpPr>
        <p:spPr>
          <a:xfrm>
            <a:off x="508000" y="444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600" b="1">
                <a:solidFill>
                  <a:srgbClr val="1E1E1E"/>
                </a:solidFill>
                <a:latin typeface="맑은 고딕" panose="020B0503020000020004" pitchFamily="50" charset="-127"/>
              </a:rPr>
              <a:t>장표 한 장은 제목 하나</a:t>
            </a:r>
            <a:r>
              <a:rPr lang="en-US" altLang="ko-KR" sz="2600" b="1">
                <a:solidFill>
                  <a:srgbClr val="1E1E1E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600" b="1">
                <a:solidFill>
                  <a:srgbClr val="1E1E1E"/>
                </a:solidFill>
                <a:latin typeface="맑은 고딕" panose="020B0503020000020004" pitchFamily="50" charset="-127"/>
              </a:rPr>
              <a:t>시각자료 하나</a:t>
            </a:r>
            <a:r>
              <a:rPr lang="en-US" altLang="ko-KR" sz="2600" b="1">
                <a:solidFill>
                  <a:srgbClr val="1E1E1E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2600" b="1">
                <a:solidFill>
                  <a:srgbClr val="1E1E1E"/>
                </a:solidFill>
                <a:latin typeface="맑은 고딕" panose="020B0503020000020004" pitchFamily="50" charset="-127"/>
              </a:rPr>
              <a:t>출처 하나로 만든다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F251DD1-81B3-FCA8-5DFD-B795D45F98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012351"/>
              </p:ext>
            </p:extLst>
          </p:nvPr>
        </p:nvGraphicFramePr>
        <p:xfrm>
          <a:off x="508000" y="2286000"/>
          <a:ext cx="7112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3612914862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552900418"/>
                    </a:ext>
                  </a:extLst>
                </a:gridCol>
              </a:tblGrid>
              <a:tr h="10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i="0">
                          <a:solidFill>
                            <a:srgbClr val="B22234"/>
                          </a:solidFill>
                          <a:latin typeface="맑은 고딕" panose="020B0503020000020004" pitchFamily="50" charset="-127"/>
                        </a:rPr>
                        <a:t>제목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결론 문장 하나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234006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i="0">
                          <a:solidFill>
                            <a:srgbClr val="B22234"/>
                          </a:solidFill>
                          <a:latin typeface="맑은 고딕" panose="020B0503020000020004" pitchFamily="50" charset="-127"/>
                        </a:rPr>
                        <a:t>본문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시각자료 딱 </a:t>
                      </a:r>
                      <a:r>
                        <a:rPr lang="en-US" altLang="ko-KR" sz="1400" b="0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400" b="0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42414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i="0">
                          <a:solidFill>
                            <a:srgbClr val="B22234"/>
                          </a:solidFill>
                          <a:latin typeface="맑은 고딕" panose="020B0503020000020004" pitchFamily="50" charset="-127"/>
                        </a:rPr>
                        <a:t>하단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i="0">
                          <a:solidFill>
                            <a:srgbClr val="1E1E1E"/>
                          </a:solidFill>
                          <a:latin typeface="맑은 고딕" panose="020B0503020000020004" pitchFamily="50" charset="-127"/>
                        </a:rPr>
                        <a:t>출처와 근거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672593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8BE1D91-62C6-2BE8-270F-99506D1DD037}"/>
              </a:ext>
            </a:extLst>
          </p:cNvPr>
          <p:cNvSpPr/>
          <p:nvPr/>
        </p:nvSpPr>
        <p:spPr>
          <a:xfrm>
            <a:off x="7874000" y="2286000"/>
            <a:ext cx="3810000" cy="304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8787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altLang="ko-KR" sz="1300">
                <a:solidFill>
                  <a:srgbClr val="787878"/>
                </a:solidFill>
                <a:latin typeface="맑은 고딕" panose="020B0503020000020004" pitchFamily="50" charset="-127"/>
              </a:rPr>
              <a:t>[</a:t>
            </a:r>
            <a:r>
              <a:rPr lang="ko-KR" altLang="en-US" sz="1300">
                <a:solidFill>
                  <a:srgbClr val="787878"/>
                </a:solidFill>
                <a:latin typeface="맑은 고딕" panose="020B0503020000020004" pitchFamily="50" charset="-127"/>
              </a:rPr>
              <a:t>이미지</a:t>
            </a:r>
            <a:r>
              <a:rPr lang="en-US" altLang="ko-KR" sz="1300">
                <a:solidFill>
                  <a:srgbClr val="787878"/>
                </a:solidFill>
                <a:latin typeface="맑은 고딕" panose="020B0503020000020004" pitchFamily="50" charset="-127"/>
              </a:rPr>
              <a:t>:</a:t>
            </a:r>
          </a:p>
          <a:p>
            <a:pPr algn="ctr"/>
            <a:r>
              <a:rPr lang="en-US" altLang="ko-KR" sz="1300">
                <a:solidFill>
                  <a:srgbClr val="787878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787878"/>
                </a:solidFill>
                <a:latin typeface="맑은 고딕" panose="020B0503020000020004" pitchFamily="50" charset="-127"/>
              </a:rPr>
              <a:t>좋은 </a:t>
            </a:r>
            <a:r>
              <a:rPr lang="en-US" altLang="ko-KR" sz="1300">
                <a:solidFill>
                  <a:srgbClr val="787878"/>
                </a:solidFill>
                <a:latin typeface="맑은 고딕" panose="020B0503020000020004" pitchFamily="50" charset="-127"/>
              </a:rPr>
              <a:t>PPT </a:t>
            </a:r>
            <a:r>
              <a:rPr lang="ko-KR" altLang="en-US" sz="1300">
                <a:solidFill>
                  <a:srgbClr val="787878"/>
                </a:solidFill>
                <a:latin typeface="맑은 고딕" panose="020B0503020000020004" pitchFamily="50" charset="-127"/>
              </a:rPr>
              <a:t>장표</a:t>
            </a:r>
            <a:r>
              <a:rPr lang="en-US" altLang="ko-KR" sz="1300">
                <a:solidFill>
                  <a:srgbClr val="787878"/>
                </a:solidFill>
                <a:latin typeface="맑은 고딕" panose="020B0503020000020004" pitchFamily="50" charset="-127"/>
              </a:rPr>
              <a:t>" </a:t>
            </a:r>
            <a:r>
              <a:rPr lang="ko-KR" altLang="en-US" sz="1300">
                <a:solidFill>
                  <a:srgbClr val="787878"/>
                </a:solidFill>
                <a:latin typeface="맑은 고딕" panose="020B0503020000020004" pitchFamily="50" charset="-127"/>
              </a:rPr>
              <a:t>원칙 이미지 자리</a:t>
            </a:r>
            <a:r>
              <a:rPr lang="en-US" altLang="ko-KR" sz="1300">
                <a:solidFill>
                  <a:srgbClr val="787878"/>
                </a:solidFill>
                <a:latin typeface="맑은 고딕" panose="020B0503020000020004" pitchFamily="50" charset="-127"/>
              </a:rPr>
              <a:t>]</a:t>
            </a:r>
            <a:endParaRPr lang="ko-KR" altLang="en-US" sz="1300">
              <a:solidFill>
                <a:srgbClr val="78787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173388-7334-38AF-BD04-B5527DEB25A5}"/>
              </a:ext>
            </a:extLst>
          </p:cNvPr>
          <p:cNvSpPr txBox="1"/>
          <p:nvPr/>
        </p:nvSpPr>
        <p:spPr>
          <a:xfrm>
            <a:off x="508000" y="6350000"/>
            <a:ext cx="10541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출처</a:t>
            </a:r>
            <a:r>
              <a:rPr lang="en-US" altLang="ko-KR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워크시트 표</a:t>
            </a:r>
            <a:r>
              <a:rPr lang="en-US" altLang="ko-KR" sz="1100" i="1">
                <a:solidFill>
                  <a:srgbClr val="787878"/>
                </a:solidFill>
                <a:latin typeface="맑은 고딕" panose="020B0503020000020004" pitchFamily="50" charset="-127"/>
              </a:rPr>
              <a:t>93</a:t>
            </a:r>
            <a:endParaRPr lang="ko-KR" altLang="en-US" sz="1100" i="1">
              <a:solidFill>
                <a:srgbClr val="78787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E99927-CF0D-1BAC-4714-D070A2F5E057}"/>
              </a:ext>
            </a:extLst>
          </p:cNvPr>
          <p:cNvSpPr txBox="1"/>
          <p:nvPr/>
        </p:nvSpPr>
        <p:spPr>
          <a:xfrm>
            <a:off x="11366500" y="6350000"/>
            <a:ext cx="38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altLang="ko-KR" sz="1100">
                <a:solidFill>
                  <a:srgbClr val="787878"/>
                </a:solidFill>
                <a:latin typeface="맑은 고딕" panose="020B0503020000020004" pitchFamily="50" charset="-127"/>
              </a:rPr>
              <a:t>12</a:t>
            </a:r>
            <a:endParaRPr lang="ko-KR" altLang="en-US" sz="1100">
              <a:solidFill>
                <a:srgbClr val="78787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7543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678</Words>
  <Application>Microsoft Office PowerPoint</Application>
  <PresentationFormat>와이드스크린</PresentationFormat>
  <Paragraphs>116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Youngbok Park</dc:creator>
  <cp:lastModifiedBy>Youngbok Park</cp:lastModifiedBy>
  <cp:revision>1</cp:revision>
  <dcterms:created xsi:type="dcterms:W3CDTF">2026-08-30T07:04:13Z</dcterms:created>
  <dcterms:modified xsi:type="dcterms:W3CDTF">2026-08-30T07:06:44Z</dcterms:modified>
</cp:coreProperties>
</file>