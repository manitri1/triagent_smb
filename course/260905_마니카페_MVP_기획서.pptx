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3931920" cy="36576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>
                <a:solidFill>
                  <a:srgbClr val="D7A47B"/>
                </a:solidFill>
                <a:latin typeface="맑은 고딕"/>
              </a:rPr>
              <a:t>DAY 5 · AI 서비스 MVP 기획 실습 적용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3931920" cy="36576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7A4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3ECE4"/>
                </a:solidFill>
                <a:latin typeface="맑은 고딕"/>
              </a:rPr>
              <a:t>마니카페 AI 운영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C9BBAE"/>
                </a:solidFill>
                <a:latin typeface="맑은 고딕"/>
              </a:rPr>
              <a:t>Hermes Agent 기반 7-Profile 오케스트레이션으로 주문·재고·문의·승인을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C9BBAE"/>
                </a:solidFill>
                <a:latin typeface="맑은 고딕"/>
              </a:rPr>
              <a:t>하나의 창구에서 처리하는 소상공인 AX 서비스 — MVP 기획서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11880"/>
            <a:ext cx="6675120" cy="457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A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7FCB9C"/>
                </a:solidFill>
                <a:latin typeface="맑은 고딕"/>
              </a:rPr>
              <a:t>● </a:t>
            </a:r>
            <a:r>
              <a:rPr sz="1200" b="0">
                <a:solidFill>
                  <a:srgbClr val="F3ECE4"/>
                </a:solidFill>
                <a:latin typeface="맑은 고딕"/>
              </a:rPr>
              <a:t>VPS 배포 중 · 컨테이너 4개(hermes/dashboard/mock-pos/webapp) 정상 동작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0881360" cy="1"/>
          </a:xfrm>
          <a:prstGeom prst="rect">
            <a:avLst/>
          </a:prstGeom>
          <a:solidFill>
            <a:srgbClr val="3A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F3ECE4"/>
                </a:solidFill>
                <a:latin typeface="맑은 고딕"/>
              </a:rPr>
              <a:t>2026년 9월 5일 (토)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C9BBAE"/>
                </a:solidFill>
                <a:latin typeface="Consolas"/>
              </a:rPr>
              <a:t>작성일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539496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F3ECE4"/>
                </a:solidFill>
                <a:latin typeface="맑은 고딕"/>
              </a:rPr>
              <a:t>마니카페 연남점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C9BBAE"/>
                </a:solidFill>
                <a:latin typeface="Consolas"/>
              </a:rPr>
              <a:t>대상 매장 · 서울 마포구 연남동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9904" y="539496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F3ECE4"/>
                </a:solidFill>
                <a:latin typeface="맑은 고딕"/>
              </a:rPr>
              <a:t>coordinator + 6 Agents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C9BBAE"/>
                </a:solidFill>
                <a:latin typeface="Consolas"/>
              </a:rPr>
              <a:t>구현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14816" y="539496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F3ECE4"/>
                </a:solidFill>
                <a:latin typeface="맑은 고딕"/>
              </a:rPr>
              <a:t>docker-compose.yml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C9BBAE"/>
                </a:solidFill>
                <a:latin typeface="Consolas"/>
              </a:rPr>
              <a:t>배포 방식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4630"/>
                </a:solidFill>
                <a:latin typeface="Consolas"/>
              </a:rPr>
              <a:t>01  </a:t>
            </a:r>
            <a:r>
              <a:rPr sz="1200" b="0">
                <a:solidFill>
                  <a:srgbClr val="5B554E"/>
                </a:solidFill>
                <a:latin typeface="Consolas"/>
              </a:rPr>
              <a:t>서비스 구조도 한 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1D19"/>
                </a:solidFill>
                <a:latin typeface="맑은 고딕"/>
              </a:rPr>
              <a:t>네 개 층으로 본 마니카페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B554E"/>
                </a:solidFill>
                <a:latin typeface="맑은 고딕"/>
              </a:rPr>
              <a:t>화면·로직·데이터·배포 네 층의 내용을 정의하면, 이 서비스가 무엇을 자동화하고 무엇을 사람이 여전히 결정하는지가 한 장으로 설명된다.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515600" cy="2852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51560" cy="713232"/>
          </a:xfrm>
          <a:prstGeom prst="rect">
            <a:avLst/>
          </a:prstGeom>
          <a:solidFill>
            <a:srgbClr val="E4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51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6F8E"/>
                </a:solidFill>
                <a:latin typeface="맑은 고딕"/>
              </a:rPr>
              <a:t>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1929383"/>
            <a:ext cx="9098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운영 콘솔 4화면(/support·/orders·/inventory·/dashboard, 포트 9131) + coordinator 자연어 챗(Hermes 대시보드 /chat, 포트 9128)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직원은 화면을, 사장님은 챗을 — 두 진입점이 같은 로직 층을 공유한다.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87751"/>
            <a:ext cx="1051560" cy="713232"/>
          </a:xfrm>
          <a:prstGeom prst="rect">
            <a:avLst/>
          </a:prstGeom>
          <a:solidFill>
            <a:srgbClr val="F3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1"/>
            <a:ext cx="1051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8791F"/>
                </a:solidFill>
                <a:latin typeface="맑은 고딕"/>
              </a:rPr>
              <a:t>로직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642615"/>
            <a:ext cx="9098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coordinator가 terminal 동기 호출로 6개 전문 Agent에 위임(order-payment/inventory/reservation/customer-service/sales-analytics/marketing-crm) + 승인 없이 실행되지 않는 HITL 게이트 3종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위임 결과는 timeout 여부와 무관하게 매번 Active Verification으로 재확인한다.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00983"/>
            <a:ext cx="1051560" cy="713232"/>
          </a:xfrm>
          <a:prstGeom prst="rect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00983"/>
            <a:ext cx="1051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C7A55"/>
                </a:solidFill>
                <a:latin typeface="맑은 고딕"/>
              </a:rPr>
              <a:t>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355847"/>
            <a:ext cx="9098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mock-pos(Square 오브젝트 구조 기반) — 주문·결제·재고·예약·고객·마진 리포트 25개 API + workspace/*.md(Agent가 남기는 브리핑·카드)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실 매장 전환 시 인터페이스 계약은 유지한 채 실 POS 어댑터로 교체 가능.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14215"/>
            <a:ext cx="1051560" cy="713232"/>
          </a:xfrm>
          <a:prstGeom prst="rect">
            <a:avLst/>
          </a:prstGeom>
          <a:solidFill>
            <a:srgbClr val="F3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14215"/>
            <a:ext cx="1051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2402B"/>
                </a:solidFill>
                <a:latin typeface="맑은 고딕"/>
              </a:rPr>
              <a:t>배포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4069079"/>
            <a:ext cx="9098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Docker Compose 4컨테이너 — hermes(8651), dashboard(127.0.0.1:9128), mock-pos(8080), webapp(127.0.0.1:9131), VPS 1대에 상주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대시보드·웹앱은 루프백 전용 — 외부 접속은 SSH 터널 또는 리버스 프록시로만.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56047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93207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5B554E"/>
                </a:solidFill>
                <a:latin typeface="Consolas"/>
              </a:rPr>
              <a:t>형태 — 웹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사장님과 직원 모두 데스크톱·모바일 브라우저로 접속. 휴대폰 전용 기능이 핵심 가치가 아니므로 웹이 시작점.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판단 기준: 핵심 가치의 '휴대폰 전용' 성립 여부 → 해당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4956047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5093207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5B554E"/>
                </a:solidFill>
                <a:latin typeface="Consolas"/>
              </a:rPr>
              <a:t>유형 — B 대시보드형 (+D 대화형 보조)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주 화면은 운영 콘솔(요약·관리·설정 패턴)이며, coordinator 챗은 두 번째 진입점으로 병행 제공.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두 유형에 걸치면 주 화면 하나만 선택 — 매일 쓰는 업무 화면 기준으로 B 확정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4630"/>
                </a:solidFill>
                <a:latin typeface="Consolas"/>
              </a:rPr>
              <a:t>02  </a:t>
            </a:r>
            <a:r>
              <a:rPr sz="1200" b="0">
                <a:solidFill>
                  <a:srgbClr val="5B554E"/>
                </a:solidFill>
                <a:latin typeface="Consolas"/>
              </a:rPr>
              <a:t>기능 분해와 MVP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1D19"/>
                </a:solidFill>
                <a:latin typeface="맑은 고딕"/>
              </a:rPr>
              <a:t>이번 범위에 남긴 5개, 잘라 낸 6개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B554E"/>
                </a:solidFill>
                <a:latin typeface="맑은 고딕"/>
              </a:rPr>
              <a:t>“없으면 핵심 가치가 성립하지 않는가 · 구현이 가능한가 · 사람 손으로 대체 불가능한가” 세 기준을 통과한 것만 남겼다.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08483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45000" cy="1234440"/>
          </a:xfrm>
          <a:prstGeom prst="rect">
            <a:avLst/>
          </a:prstGeom>
          <a:solidFill>
            <a:srgbClr val="3C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84247"/>
            <a:ext cx="181051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1">
                <a:solidFill>
                  <a:srgbClr val="3C7A55"/>
                </a:solidFill>
                <a:latin typeface="Consolas"/>
              </a:rPr>
              <a:t>01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211D19"/>
                </a:solidFill>
                <a:latin typeface="맑은 고딕"/>
              </a:rPr>
              <a:t>주문 접수 · 결제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coordinator → order-payment-agent 위임, mock-pos 결제까지 end-to-end 검증 완료.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7" y="1874519"/>
            <a:ext cx="208483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52927" y="1874519"/>
            <a:ext cx="45000" cy="1234440"/>
          </a:xfrm>
          <a:prstGeom prst="rect">
            <a:avLst/>
          </a:prstGeom>
          <a:solidFill>
            <a:srgbClr val="3C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7" y="1984247"/>
            <a:ext cx="181051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1">
                <a:solidFill>
                  <a:srgbClr val="3C7A55"/>
                </a:solidFill>
                <a:latin typeface="Consolas"/>
              </a:rPr>
              <a:t>02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211D19"/>
                </a:solidFill>
                <a:latin typeface="맑은 고딕"/>
              </a:rPr>
              <a:t>재고 파악 · 재입고 요청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inventory-agent가 재고를 읽고, 대량 발주는 승인 게이트를 거쳐 실행.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4" y="1874519"/>
            <a:ext cx="208483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65774" y="1874519"/>
            <a:ext cx="45000" cy="1234440"/>
          </a:xfrm>
          <a:prstGeom prst="rect">
            <a:avLst/>
          </a:prstGeom>
          <a:solidFill>
            <a:srgbClr val="3C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4" y="1984247"/>
            <a:ext cx="181051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1">
                <a:solidFill>
                  <a:srgbClr val="3C7A55"/>
                </a:solidFill>
                <a:latin typeface="Consolas"/>
              </a:rPr>
              <a:t>03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211D19"/>
                </a:solidFill>
                <a:latin typeface="맑은 고딕"/>
              </a:rPr>
              <a:t>고객 문의 응대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customer-service-agent가 FAQ 기반으로 1차 응대.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1" y="1874519"/>
            <a:ext cx="208483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78621" y="1874519"/>
            <a:ext cx="45000" cy="1234440"/>
          </a:xfrm>
          <a:prstGeom prst="rect">
            <a:avLst/>
          </a:prstGeom>
          <a:solidFill>
            <a:srgbClr val="3C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5781" y="1984247"/>
            <a:ext cx="181051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1">
                <a:solidFill>
                  <a:srgbClr val="3C7A55"/>
                </a:solidFill>
                <a:latin typeface="Consolas"/>
              </a:rPr>
              <a:t>04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211D19"/>
                </a:solidFill>
                <a:latin typeface="맑은 고딕"/>
              </a:rPr>
              <a:t>실시간 매출 · 재고 대시보드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mock-pos 리포트(인기메뉴 TOP5·일별매출·마진·재방문)를 즉시 조회.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1468" y="1874519"/>
            <a:ext cx="208483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91468" y="1874519"/>
            <a:ext cx="45000" cy="1234440"/>
          </a:xfrm>
          <a:prstGeom prst="rect">
            <a:avLst/>
          </a:prstGeom>
          <a:solidFill>
            <a:srgbClr val="3C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28" y="1984247"/>
            <a:ext cx="181051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1">
                <a:solidFill>
                  <a:srgbClr val="3C7A55"/>
                </a:solidFill>
                <a:latin typeface="Consolas"/>
              </a:rPr>
              <a:t>05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211D19"/>
                </a:solidFill>
                <a:latin typeface="맑은 고딕"/>
              </a:rPr>
              <a:t>승인 게이트 3종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프로모션 집행·대량 발주(10만원 상한)·결제 환불.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8327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554E"/>
                </a:solidFill>
                <a:latin typeface="Consolas"/>
              </a:rPr>
              <a:t>제외 대상 — 잘라 낸 기능 (구현 예정 시점)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19"/>
            <a:ext cx="5349240" cy="457200"/>
          </a:xfrm>
          <a:prstGeom prst="roundRect">
            <a:avLst>
              <a:gd name="adj" fmla="val 15000"/>
            </a:avLst>
          </a:prstGeom>
          <a:solidFill>
            <a:srgbClr val="FBFAF8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03319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>
                <a:solidFill>
                  <a:srgbClr val="5B554E"/>
                </a:solidFill>
                <a:latin typeface="맑은 고딕"/>
              </a:rPr>
              <a:t>• 실 POS 벤더 연동 — 토스플레이스·카카오페이 계약/인증정보 확보 이후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03319"/>
            <a:ext cx="5349240" cy="457200"/>
          </a:xfrm>
          <a:prstGeom prst="roundRect">
            <a:avLst>
              <a:gd name="adj" fmla="val 15000"/>
            </a:avLst>
          </a:prstGeom>
          <a:solidFill>
            <a:srgbClr val="FBFAF8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703319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>
                <a:solidFill>
                  <a:srgbClr val="5B554E"/>
                </a:solidFill>
                <a:latin typeface="맑은 고딕"/>
              </a:rPr>
              <a:t>• 외부 검색(web/search) 활성화 — EXA/TAVILY 등 API 키 확보 이후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51959"/>
            <a:ext cx="5349240" cy="457200"/>
          </a:xfrm>
          <a:prstGeom prst="roundRect">
            <a:avLst>
              <a:gd name="adj" fmla="val 15000"/>
            </a:avLst>
          </a:prstGeom>
          <a:solidFill>
            <a:srgbClr val="FBFAF8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51959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>
                <a:solidFill>
                  <a:srgbClr val="5B554E"/>
                </a:solidFill>
                <a:latin typeface="맑은 고딕"/>
              </a:rPr>
              <a:t>• Discord 실제 HITL 알림 발송 — DISCORD_BOT_TOKEN 설정 이후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251959"/>
            <a:ext cx="5349240" cy="457200"/>
          </a:xfrm>
          <a:prstGeom prst="roundRect">
            <a:avLst>
              <a:gd name="adj" fmla="val 15000"/>
            </a:avLst>
          </a:prstGeom>
          <a:solidFill>
            <a:srgbClr val="FBFAF8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251959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>
                <a:solidFill>
                  <a:srgbClr val="5B554E"/>
                </a:solidFill>
                <a:latin typeface="맑은 고딕"/>
              </a:rPr>
              <a:t>• kanban 기반 다단계 파이프라인 — 단일 위임 검증 이후 다음 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00599"/>
            <a:ext cx="5349240" cy="457200"/>
          </a:xfrm>
          <a:prstGeom prst="roundRect">
            <a:avLst>
              <a:gd name="adj" fmla="val 15000"/>
            </a:avLst>
          </a:prstGeom>
          <a:solidFill>
            <a:srgbClr val="FBFAF8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00599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>
                <a:solidFill>
                  <a:srgbClr val="5B554E"/>
                </a:solidFill>
                <a:latin typeface="맑은 고딕"/>
              </a:rPr>
              <a:t>• 예약·매출분석·마케팅 캠페인 고도화 — 5개 기능 안정화 이후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800599"/>
            <a:ext cx="5349240" cy="457200"/>
          </a:xfrm>
          <a:prstGeom prst="roundRect">
            <a:avLst>
              <a:gd name="adj" fmla="val 15000"/>
            </a:avLst>
          </a:prstGeom>
          <a:solidFill>
            <a:srgbClr val="FBFAF8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800599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>
                <a:solidFill>
                  <a:srgbClr val="5B554E"/>
                </a:solidFill>
                <a:latin typeface="맑은 고딕"/>
              </a:rPr>
              <a:t>• 업종별 확장(식당·미용실·편의점) — 카페 검증 완료 이후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394959"/>
            <a:ext cx="10881360" cy="502920"/>
          </a:xfrm>
          <a:prstGeom prst="roundRect">
            <a:avLst>
              <a:gd name="adj" fmla="val 15000"/>
            </a:avLst>
          </a:prstGeom>
          <a:solidFill>
            <a:srgbClr val="EFE3D8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394959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4630"/>
                </a:solidFill>
                <a:latin typeface="맑은 고딕"/>
              </a:rPr>
              <a:t>점검: </a:t>
            </a:r>
            <a:r>
              <a:rPr sz="1050" b="0">
                <a:solidFill>
                  <a:srgbClr val="211D19"/>
                </a:solidFill>
                <a:latin typeface="맑은 고딕"/>
              </a:rPr>
              <a:t>남긴 5개 기능만으로 “마니카페 사장님이 주문·재고·문의·승인을 한 창구에서 처리한다”는 한 문장 설명이 가능함 — 선별 통과.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4630"/>
                </a:solidFill>
                <a:latin typeface="Consolas"/>
              </a:rPr>
              <a:t>03  </a:t>
            </a:r>
            <a:r>
              <a:rPr sz="1200" b="0">
                <a:solidFill>
                  <a:srgbClr val="5B554E"/>
                </a:solidFill>
                <a:latin typeface="Consolas"/>
              </a:rPr>
              <a:t>사용자 시나리오와 화면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1D19"/>
                </a:solidFill>
                <a:latin typeface="맑은 고딕"/>
              </a:rPr>
              <a:t>운영 콘솔 네 화면의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554E"/>
                </a:solidFill>
                <a:latin typeface="맑은 고딕"/>
              </a:rPr>
              <a:t>“마니카페 연남점 직원이 주문 접수 화면에서 '아메리카노 2잔'을 입력하면, coordinator가 결제를 완료하고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554E"/>
                </a:solidFill>
                <a:latin typeface="맑은 고딕"/>
              </a:rPr>
              <a:t>재고를 차감하며 대시보드에 즉시 반영한다.”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331720" cy="45000"/>
          </a:xfrm>
          <a:prstGeom prst="rect">
            <a:avLst/>
          </a:prstGeom>
          <a:solidFill>
            <a:srgbClr val="2E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23160"/>
            <a:ext cx="20025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2E6F8E"/>
                </a:solidFill>
                <a:latin typeface="Consolas"/>
              </a:rPr>
              <a:t>/support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211D19"/>
                </a:solidFill>
                <a:latin typeface="맑은 고딕"/>
              </a:rPr>
              <a:t>고객 문의 상담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customer-service-agent · FAQ 응대, 쓰기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286000"/>
            <a:ext cx="502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5B554E"/>
                </a:solidFill>
                <a:latin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28600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286000"/>
            <a:ext cx="2331720" cy="45000"/>
          </a:xfrm>
          <a:prstGeom prst="rect">
            <a:avLst/>
          </a:prstGeom>
          <a:solidFill>
            <a:srgbClr val="2E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423160"/>
            <a:ext cx="20025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2E6F8E"/>
                </a:solidFill>
                <a:latin typeface="Consolas"/>
              </a:rPr>
              <a:t>/orders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211D19"/>
                </a:solidFill>
                <a:latin typeface="맑은 고딕"/>
              </a:rPr>
              <a:t>주문 접수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coordinator 위임 · 주문+결제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286000"/>
            <a:ext cx="502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5B554E"/>
                </a:solidFill>
                <a:latin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28600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286000"/>
            <a:ext cx="2331720" cy="45000"/>
          </a:xfrm>
          <a:prstGeom prst="rect">
            <a:avLst/>
          </a:prstGeom>
          <a:solidFill>
            <a:srgbClr val="2E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423160"/>
            <a:ext cx="20025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2E6F8E"/>
                </a:solidFill>
                <a:latin typeface="Consolas"/>
              </a:rPr>
              <a:t>/inventory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211D19"/>
                </a:solidFill>
                <a:latin typeface="맑은 고딕"/>
              </a:rPr>
              <a:t>재고 파악 · 재입고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재고 자동 차감 확인, 대량 발주는 승인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286000"/>
            <a:ext cx="502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5B554E"/>
                </a:solidFill>
                <a:latin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28600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286000"/>
            <a:ext cx="2331720" cy="45000"/>
          </a:xfrm>
          <a:prstGeom prst="rect">
            <a:avLst/>
          </a:prstGeom>
          <a:solidFill>
            <a:srgbClr val="2E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2423160"/>
            <a:ext cx="20025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2E6F8E"/>
                </a:solidFill>
                <a:latin typeface="Consolas"/>
              </a:rPr>
              <a:t>/dashboard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211D19"/>
                </a:solidFill>
                <a:latin typeface="맑은 고딕"/>
              </a:rPr>
              <a:t>실시간 대시보드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5B554E"/>
                </a:solidFill>
                <a:latin typeface="맑은 고딕"/>
              </a:rPr>
              <a:t>mock-pos 리포트 조회, 쓰기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BFAF8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233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5B554E"/>
                </a:solidFill>
                <a:latin typeface="Consolas"/>
              </a:rPr>
              <a:t>분기 — 재고 부족 시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/orders에서 결제 완료 → 재고 임계치 이하 감지 → /inventory에 재입고 필요 표시 → 10만 원 초과 시 coordinator 승인 대기로 전환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" y="493776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8680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구성 요소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/orders 화면 정의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제목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주문 접수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주요 내용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메뉴 선택 + 수량 입력 폼, 접수된 주문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행동 버튼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“주문 접수” 1개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상태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처리 중(coordinator 위임 진행) · 완료(결제 COMPLETED)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4630"/>
                </a:solidFill>
                <a:latin typeface="Consolas"/>
              </a:rPr>
              <a:t>04  </a:t>
            </a:r>
            <a:r>
              <a:rPr sz="1200" b="0">
                <a:solidFill>
                  <a:srgbClr val="5B554E"/>
                </a:solidFill>
                <a:latin typeface="Consolas"/>
              </a:rPr>
              <a:t>화면이 아닌 승인 흐름의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1D19"/>
                </a:solidFill>
                <a:latin typeface="맑은 고딕"/>
              </a:rPr>
              <a:t>이 서비스의 UI 원칙은 신뢰 설계다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554E"/>
                </a:solidFill>
                <a:latin typeface="맑은 고딕"/>
              </a:rPr>
              <a:t>색과 여백보다 먼저 다듬은 것은 “AI가 돈이 걸린 결정을 언제 스스로 하지 않는가”다. 세 게이트가 그 규칙을 대신한다.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0215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3136392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0">
                <a:solidFill>
                  <a:srgbClr val="5B554E"/>
                </a:solidFill>
                <a:latin typeface="Consolas"/>
              </a:rPr>
              <a:t>marketing-crm-agent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211D19"/>
                </a:solidFill>
                <a:latin typeface="맑은 고딕"/>
              </a:rPr>
              <a:t>게이트 1 · 프로모션 집행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5B554E"/>
                </a:solidFill>
                <a:latin typeface="맑은 고딕"/>
              </a:rPr>
              <a:t>유료 광고·대량 발송의 즉시 실행 요청을 명시적으로 거부, 초안까지만 작성.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3044952" cy="320040"/>
          </a:xfrm>
          <a:prstGeom prst="roundRect">
            <a:avLst>
              <a:gd name="adj" fmla="val 50000"/>
            </a:avLst>
          </a:prstGeom>
          <a:solidFill>
            <a:srgbClr val="F3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>
                <a:solidFill>
                  <a:srgbClr val="A8791F"/>
                </a:solidFill>
                <a:latin typeface="맑은 고딕"/>
              </a:rPr>
              <a:t>승인 없이 실행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965960"/>
            <a:ext cx="350215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2130552"/>
            <a:ext cx="3136392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0">
                <a:solidFill>
                  <a:srgbClr val="5B554E"/>
                </a:solidFill>
                <a:latin typeface="Consolas"/>
              </a:rPr>
              <a:t>inventory-agent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211D19"/>
                </a:solidFill>
                <a:latin typeface="맑은 고딕"/>
              </a:rPr>
              <a:t>게이트 2 · 대량 발주 (10만 원 상한)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5B554E"/>
                </a:solidFill>
                <a:latin typeface="맑은 고딕"/>
              </a:rPr>
              <a:t>USER.md의 승인 상한을 읽고 초과 여부를 스스로 판단, 초과 시 API 자체를 호출하지 않음.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3429000"/>
            <a:ext cx="3044952" cy="320040"/>
          </a:xfrm>
          <a:prstGeom prst="roundRect">
            <a:avLst>
              <a:gd name="adj" fmla="val 50000"/>
            </a:avLst>
          </a:prstGeom>
          <a:solidFill>
            <a:srgbClr val="F3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>
                <a:solidFill>
                  <a:srgbClr val="A8791F"/>
                </a:solidFill>
                <a:latin typeface="맑은 고딕"/>
              </a:rPr>
              <a:t>상한 초과 시 자동 보류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1965960"/>
            <a:ext cx="350215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1584" y="2130552"/>
            <a:ext cx="3136392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0">
                <a:solidFill>
                  <a:srgbClr val="5B554E"/>
                </a:solidFill>
                <a:latin typeface="Consolas"/>
              </a:rPr>
              <a:t>order-payment-agent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211D19"/>
                </a:solidFill>
                <a:latin typeface="맑은 고딕"/>
              </a:rPr>
              <a:t>게이트 3 · 결제 환불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5B554E"/>
                </a:solidFill>
                <a:latin typeface="맑은 고딕"/>
              </a:rPr>
              <a:t>완료된 결제의 즉시 환불 요청을 거부, mock-pos API로 결제 상태를 재확인.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3429000"/>
            <a:ext cx="3044952" cy="320040"/>
          </a:xfrm>
          <a:prstGeom prst="roundRect">
            <a:avLst>
              <a:gd name="adj" fmla="val 50000"/>
            </a:avLst>
          </a:prstGeom>
          <a:solidFill>
            <a:srgbClr val="F3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>
                <a:solidFill>
                  <a:srgbClr val="A8791F"/>
                </a:solidFill>
                <a:latin typeface="맑은 고딕"/>
              </a:rPr>
              <a:t>승인 후에만 환불 API 호출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062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FE3D8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70832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6B4630"/>
                </a:solidFill>
                <a:latin typeface="맑은 고딕"/>
              </a:rPr>
              <a:t>공통 원칙 — </a:t>
            </a:r>
            <a:r>
              <a:rPr sz="1150" b="0">
                <a:solidFill>
                  <a:srgbClr val="211D19"/>
                </a:solidFill>
                <a:latin typeface="맑은 고딕"/>
              </a:rPr>
              <a:t>terminal 위임은 60~120초 사이 임의로 timeout될 수 있고, timeout 이후 결과는 사례마다 다르다(완료된 경우도, 종료된 경우도 실측됨). 그래서 coordinator는 timeout 응답만으로 성공·실패를 단정하지 않고 매번 실제 데이터를 재조회하는 Active Verification을 수행하도록 설계·검증했다.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4630"/>
                </a:solidFill>
                <a:latin typeface="Consolas"/>
              </a:rPr>
              <a:t>05  </a:t>
            </a:r>
            <a:r>
              <a:rPr sz="1200" b="0">
                <a:solidFill>
                  <a:srgbClr val="5B554E"/>
                </a:solidFill>
                <a:latin typeface="Consolas"/>
              </a:rPr>
              <a:t>산출물의 문서화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1D19"/>
                </a:solidFill>
                <a:latin typeface="맑은 고딕"/>
              </a:rPr>
              <a:t>AI가 매번 참고할 프로젝트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B554E"/>
                </a:solidFill>
                <a:latin typeface="맑은 고딕"/>
              </a:rPr>
              <a:t>대화가 길어져 맥락이 끊겨도, 이 문서 하나만 재확인하면 복구된다.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36576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554E"/>
                </a:solidFill>
                <a:latin typeface="Consolas"/>
              </a:rPr>
              <a:t>PROJECT_CONTEXT.md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39"/>
            <a:ext cx="1033272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6B4630"/>
                </a:solidFill>
                <a:latin typeface="Consolas"/>
              </a:rPr>
              <a:t>무엇을 만드는가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•  마니카페 연남점 사장님이 주문·재고·고객 응대·승인을 하나의 창구에서 처리하는 Hermes Agent 기반 자동화 시스템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00" b="0">
                <a:solidFill>
                  <a:srgbClr val="211D19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6B4630"/>
                </a:solidFill>
                <a:latin typeface="Consolas"/>
              </a:rPr>
              <a:t>구조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•  화면: 운영 콘솔 4화면 + coordinator 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•  로직: 7-Profile 위임 + HITL 게이트 3종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•  데이터: mock-pos(Square 구조 기반 시뮬레이터)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•  배포: Docker Compose, VPS 1대, 대시보드/웹앱은 루프백 전용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00" b="0">
                <a:solidFill>
                  <a:srgbClr val="211D19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6B4630"/>
                </a:solidFill>
                <a:latin typeface="Consolas"/>
              </a:rPr>
              <a:t>이번에 만든 기능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•  주문 접수·결제 / 재고 파악·재입고 / 고객 문의 응대 / 실시간 대시보드 / 승인 게이트 3종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00" b="0">
                <a:solidFill>
                  <a:srgbClr val="211D19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6B4630"/>
                </a:solidFill>
                <a:latin typeface="Consolas"/>
              </a:rPr>
              <a:t>이번에 만들지 않는 기능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•  실 POS 연동, 외부 검색, Discord 알림 발송, kanban 다단계 파이프라인, 업종별 확장 (5개 기능 안정화 이후)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00" b="0">
                <a:solidFill>
                  <a:srgbClr val="211D19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6B4630"/>
                </a:solidFill>
                <a:latin typeface="Consolas"/>
              </a:rPr>
              <a:t>지켜야 할 규칙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•  금전이 걸린 실행(프로모션·대량발주·환불)은 승인 없이 자동 실행 금지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•  terminal 위임은 timeout 여부와 무관하게 결과를 재조회로 확인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211D19"/>
                </a:solidFill>
                <a:latin typeface="맑은 고딕"/>
              </a:rPr>
              <a:t>•  로컬 개발용 자격증명은 외부 공개 전 반드시 교체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00" b="0">
                <a:solidFill>
                  <a:srgbClr val="211D19"/>
                </a:solidFill>
                <a:latin typeface="맑은 고딕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4630"/>
                </a:solidFill>
                <a:latin typeface="Consolas"/>
              </a:rPr>
              <a:t>06  </a:t>
            </a:r>
            <a:r>
              <a:rPr sz="1200" b="0">
                <a:solidFill>
                  <a:srgbClr val="5B554E"/>
                </a:solidFill>
                <a:latin typeface="Consolas"/>
              </a:rPr>
              <a:t>배포 준비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1D19"/>
                </a:solidFill>
                <a:latin typeface="맑은 고딕"/>
              </a:rPr>
              <a:t>배포 전 네 가지, 실측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B554E"/>
                </a:solidFill>
                <a:latin typeface="맑은 고딕"/>
              </a:rPr>
              <a:t>배포 시점의 지연 요인은 대부분 이 네 항목 중 하나에서 나온다 — 현재 VPS 배포 기준 점검 결과.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2024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6766560"/>
              </a:tblGrid>
              <a:tr h="7010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점검 항목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현재 상태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코드 내 API 키 기재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C7A55"/>
                          </a:solidFill>
                          <a:latin typeface="맑은 고딕"/>
                        </a:defRPr>
                      </a:pPr>
                      <a:r>
                        <a:t>통과</a:t>
                      </a:r>
                    </a:p>
                  </a:txBody>
                  <a:tcPr>
                    <a:solidFill>
                      <a:srgbClr val="E4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.env로 분리, 저장소 커밋 대상 아님. mock-pos 키는 개발용 고정 키라 노출 허용 범위.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로컬 파일 기반 데이터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A8791F"/>
                          </a:solidFill>
                          <a:latin typeface="맑은 고딕"/>
                        </a:defRPr>
                      </a:pPr>
                      <a:r>
                        <a:t>보완 필요</a:t>
                      </a:r>
                    </a:p>
                  </a:txBody>
                  <a:tcPr>
                    <a:solidFill>
                      <a:srgbClr val="F3EB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workspace/*.md 파일 기반 — 단일 매장 데모는 허용, 다중 매장 확장 시 DB 전환 필요.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로그인 · 인증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A8791F"/>
                          </a:solidFill>
                          <a:latin typeface="맑은 고딕"/>
                        </a:defRPr>
                      </a:pPr>
                      <a:r>
                        <a:t>보완 필요</a:t>
                      </a:r>
                    </a:p>
                  </a:txBody>
                  <a:tcPr>
                    <a:solidFill>
                      <a:srgbClr val="F3EB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dashboard.basic_auth 설정 완료, 개발용 기본 비밀번호 상태 — 외부 공개 전 교체 필수.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코드 내 로컬 경로 기재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C7A55"/>
                          </a:solidFill>
                          <a:latin typeface="맑은 고딕"/>
                        </a:defRPr>
                      </a:pPr>
                      <a:r>
                        <a:t>통과</a:t>
                      </a:r>
                    </a:p>
                  </a:txBody>
                  <a:tcPr>
                    <a:solidFill>
                      <a:srgbClr val="E4EF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컨테이너 내부 경로로 통일, bind mount(./.hermes:/opt/data) 사용.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원격 접근 노출 범위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A8791F"/>
                          </a:solidFill>
                          <a:latin typeface="맑은 고딕"/>
                        </a:defRPr>
                      </a:pPr>
                      <a:r>
                        <a:t>보완 필요</a:t>
                      </a:r>
                    </a:p>
                  </a:txBody>
                  <a:tcPr>
                    <a:solidFill>
                      <a:srgbClr val="F3EB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대시보드·웹앱 모두 127.0.0.1 전용 — 외부 접근은 SSH 터널 또는 TLS 리버스 프록시 별도 구성 필요.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4630"/>
                </a:solidFill>
                <a:latin typeface="Consolas"/>
              </a:rPr>
              <a:t>07  </a:t>
            </a:r>
            <a:r>
              <a:rPr sz="1200" b="0">
                <a:solidFill>
                  <a:srgbClr val="5B554E"/>
                </a:solidFill>
                <a:latin typeface="Consolas"/>
              </a:rPr>
              <a:t>실행 계획표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1D19"/>
                </a:solidFill>
                <a:latin typeface="맑은 고딕"/>
              </a:rPr>
              <a:t>다음 단계까지의 날짜별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554E"/>
                </a:solidFill>
                <a:latin typeface="맑은 고딕"/>
              </a:rPr>
              <a:t>“만든다”가 아니라 “이 화면·이 명령을 실행하면 이 결과가 나온다” 형태로, 직접 확인 가능한 기준으로 적었다.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881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120640"/>
                <a:gridCol w="4389120"/>
              </a:tblGrid>
              <a:tr h="4898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날짜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무엇을 할 것인가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끝났다고 판단하는 기준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4630"/>
                          </a:solidFill>
                          <a:latin typeface="Consolas"/>
                        </a:defRPr>
                      </a:pPr>
                      <a:r>
                        <a:t>9/6 (일)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대시보드 기본 비밀번호 교체 + secret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새 비밀번호로 curl 302 로그인 리다이렉트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4630"/>
                          </a:solidFill>
                          <a:latin typeface="Consolas"/>
                        </a:defRPr>
                      </a:pPr>
                      <a:r>
                        <a:t>9/7~9/10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토스플레이스 Open API 계약·인증 정보 확보, 어댑터 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mock-pos 인터페이스 계약 유지한 채 교체 가능함을 문서로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4630"/>
                          </a:solidFill>
                          <a:latin typeface="Consolas"/>
                        </a:defRPr>
                      </a:pPr>
                      <a:r>
                        <a:t>9/11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web/search API 키 확보 후 customer-service-agent 재검증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외부 검색 응답이 실제로 도착하는지 챗으로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4630"/>
                          </a:solidFill>
                          <a:latin typeface="Consolas"/>
                        </a:defRPr>
                      </a:pPr>
                      <a:r>
                        <a:t>9/12 (토)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Discord 봇 토큰 설정, HITL 승인 알림 실제 발송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Discord 채널에 승인 요청 메시지 도착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4630"/>
                          </a:solidFill>
                          <a:latin typeface="Consolas"/>
                        </a:defRPr>
                      </a:pPr>
                      <a:r>
                        <a:t>9/13 (일)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“주문→재고반영→마감브리핑” kanban 다단계 시나리오 1회 전체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workspace/kanban/*.md 카드가 순차 갱신됨을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B4630"/>
                          </a:solidFill>
                          <a:latin typeface="Consolas"/>
                        </a:defRPr>
                      </a:pPr>
                      <a:r>
                        <a:t>9/14~9/17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1D19"/>
                          </a:solidFill>
                          <a:latin typeface="맑은 고딕"/>
                        </a:defRPr>
                      </a:pPr>
                      <a:r>
                        <a:t>업종별 확장(식당) 프로필 스캐폴드 착수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B554E"/>
                          </a:solidFill>
                          <a:latin typeface="맑은 고딕"/>
                        </a:defRPr>
                      </a:pPr>
                      <a:r>
                        <a:t>새 프로필이 hermes doctor에 정상 인식됨을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48640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21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605272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1">
                <a:solidFill>
                  <a:srgbClr val="D7A47B"/>
                </a:solidFill>
                <a:latin typeface="맑은 고딕"/>
              </a:rPr>
              <a:t>세션 산출물 — </a:t>
            </a:r>
            <a:r>
              <a:rPr sz="1100" b="0">
                <a:solidFill>
                  <a:srgbClr val="F3ECE4"/>
                </a:solidFill>
                <a:latin typeface="맑은 고딕"/>
              </a:rPr>
              <a:t>서비스 구조도, MVP 범위(남길 5·제외 6), 화면 흐름 4단계, 프로젝트 컨텍스트 문서, 배포 점검표, 실행 계획표까지 6종을 확보했다.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C9BBAE"/>
                </a:solidFill>
                <a:latin typeface="맑은 고딕"/>
              </a:rPr>
              <a:t>클리닉 상담 대상: 대시보드 외부 노출 방식(터널 vs 리버스 프록시) 최종 선택, 다중 매장 확장 시 데이터 계층 전환 시점.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