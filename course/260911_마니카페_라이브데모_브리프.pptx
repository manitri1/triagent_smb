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4527D1"/>
                </a:solidFill>
                <a:latin typeface="맑은 고딕"/>
                <a:ea typeface="맑은 고딕"/>
              </a:rPr>
              <a:t>TRIAGENT_SMB · LIVE DEMO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800" b="1" i="0">
                <a:solidFill>
                  <a:srgbClr val="201A29"/>
                </a:solidFill>
                <a:latin typeface="맑은 고딕"/>
                <a:ea typeface="맑은 고딕"/>
              </a:rPr>
              <a:t>마니카페 사장님의 하루</a:t>
            </a:r>
          </a:p>
          <a:p>
            <a:r>
              <a:rPr sz="3000" b="1" i="0">
                <a:solidFill>
                  <a:srgbClr val="9C5A17"/>
                </a:solidFill>
                <a:latin typeface="맑은 고딕"/>
                <a:ea typeface="맑은 고딕"/>
              </a:rPr>
              <a:t>기존 방식</a:t>
            </a:r>
            <a:r>
              <a:rPr sz="3000" b="0" i="0">
                <a:solidFill>
                  <a:srgbClr val="6F6580"/>
                </a:solidFill>
                <a:latin typeface="맑은 고딕"/>
                <a:ea typeface="맑은 고딕"/>
              </a:rPr>
              <a:t>  vs  </a:t>
            </a:r>
            <a:r>
              <a:rPr sz="3000" b="1" i="0">
                <a:solidFill>
                  <a:srgbClr val="5B3DF0"/>
                </a:solidFill>
                <a:latin typeface="맑은 고딕"/>
                <a:ea typeface="맑은 고딕"/>
              </a:rPr>
              <a:t>AI 에이전트 방식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8961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6F6580"/>
                </a:solidFill>
                <a:latin typeface="맑은 고딕"/>
                <a:ea typeface="맑은 고딕"/>
              </a:rPr>
              <a:t>같은 카페, 같은 영업시간표 위에 두 가지 운영 방식을 겹쳐봤습니다. 사장님이 카운터·발주·응대·마케팅·정산을 전부 직접 처리하던 하루를, coordinator와 6개 전담 에이전트가 나눠 맡고 사장님은 꼭 필요한 순간에만 확인·승인합니다.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977639"/>
            <a:ext cx="32918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178807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5B3DF0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946903"/>
            <a:ext cx="2834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6F6580"/>
                </a:solidFill>
                <a:latin typeface="맑은 고딕"/>
                <a:ea typeface="맑은 고딕"/>
              </a:rPr>
              <a:t>하루 타임라인 접점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977639"/>
            <a:ext cx="32918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4178807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5B3DF0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4946903"/>
            <a:ext cx="2834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6F6580"/>
                </a:solidFill>
                <a:latin typeface="맑은 고딕"/>
                <a:ea typeface="맑은 고딕"/>
              </a:rPr>
              <a:t>사장님 승인이 필요한 HITL 게이트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3977639"/>
            <a:ext cx="32918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4178807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5B3DF0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4946903"/>
            <a:ext cx="2834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6F6580"/>
                </a:solidFill>
                <a:latin typeface="맑은 고딕"/>
                <a:ea typeface="맑은 고딕"/>
              </a:rPr>
              <a:t>coordinator + 전담 에이전트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623560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FBE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742432"/>
            <a:ext cx="9966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50" b="1" i="0">
                <a:solidFill>
                  <a:srgbClr val="9C5A17"/>
                </a:solidFill>
                <a:latin typeface="맑은 고딕"/>
                <a:ea typeface="맑은 고딕"/>
              </a:rPr>
              <a:t>실측 전 브리프 — </a:t>
            </a:r>
            <a:r>
              <a:rPr sz="1150" b="0" i="0">
                <a:solidFill>
                  <a:srgbClr val="201A29"/>
                </a:solidFill>
                <a:latin typeface="맑은 고딕"/>
                <a:ea typeface="맑은 고딕"/>
              </a:rPr>
              <a:t>AI 에이전트 방식 내용은 설계 의도·기대 시나리오 기준이며, 라이브 실행 결과가 반영되면 갱신됩니다.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4527D1"/>
                </a:solidFill>
                <a:latin typeface="맑은 고딕"/>
                <a:ea typeface="맑은 고딕"/>
              </a:rPr>
              <a:t>BEFORE /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 i="0">
                <a:solidFill>
                  <a:srgbClr val="201A29"/>
                </a:solidFill>
                <a:latin typeface="맑은 고딕"/>
                <a:ea typeface="맑은 고딕"/>
              </a:rPr>
              <a:t>시간대별 비교 — 기존 방식 vs AI 에이전트 방식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43032" cy="310896"/>
          </a:xfrm>
          <a:prstGeom prst="rect">
            <a:avLst/>
          </a:prstGeom>
          <a:solidFill>
            <a:srgbClr val="EF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325880"/>
            <a:ext cx="777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1" i="0">
                <a:solidFill>
                  <a:srgbClr val="6F6580"/>
                </a:solidFill>
                <a:latin typeface="맑은 고딕"/>
                <a:ea typeface="맑은 고딕"/>
              </a:rPr>
              <a:t>시간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325880"/>
            <a:ext cx="41605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1" i="0">
                <a:solidFill>
                  <a:srgbClr val="9C5A17"/>
                </a:solidFill>
                <a:latin typeface="맑은 고딕"/>
                <a:ea typeface="맑은 고딕"/>
              </a:rPr>
              <a:t>기존 방식 (사장님이 직접)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325880"/>
            <a:ext cx="5257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1" i="0">
                <a:solidFill>
                  <a:srgbClr val="4527D1"/>
                </a:solidFill>
                <a:latin typeface="맑은 고딕"/>
                <a:ea typeface="맑은 고딕"/>
              </a:rPr>
              <a:t>AI 에이전트 방식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636776"/>
            <a:ext cx="10543032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636776"/>
            <a:ext cx="86868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1" i="0">
                <a:solidFill>
                  <a:srgbClr val="5B3DF0"/>
                </a:solidFill>
                <a:latin typeface="Consolas"/>
                <a:ea typeface="Consolas"/>
              </a:rPr>
              <a:t>05:30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636776"/>
            <a:ext cx="416052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201A29"/>
                </a:solidFill>
                <a:latin typeface="맑은 고딕"/>
                <a:ea typeface="맑은 고딕"/>
              </a:rPr>
              <a:t>어제 매출 문자만 확인, 재고는 감으로 예상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636776"/>
            <a:ext cx="525780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201A29"/>
                </a:solidFill>
                <a:latin typeface="맑은 고딕"/>
                <a:ea typeface="맑은 고딕"/>
              </a:rPr>
              <a:t>coordinator 브리핑 도착 — 재고 알림 1건·예약 2건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034540"/>
            <a:ext cx="10543032" cy="397764"/>
          </a:xfrm>
          <a:prstGeom prst="rect">
            <a:avLst/>
          </a:prstGeom>
          <a:solidFill>
            <a:srgbClr val="FA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034540"/>
            <a:ext cx="86868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1" i="0">
                <a:solidFill>
                  <a:srgbClr val="5B3DF0"/>
                </a:solidFill>
                <a:latin typeface="Consolas"/>
                <a:ea typeface="Consolas"/>
              </a:rPr>
              <a:t>06:30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034540"/>
            <a:ext cx="416052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201A29"/>
                </a:solidFill>
                <a:latin typeface="맑은 고딕"/>
                <a:ea typeface="맑은 고딕"/>
              </a:rPr>
              <a:t>원두·시럽·디저트 재고를 손으로 세어 수첩에 기록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034540"/>
            <a:ext cx="525780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201A29"/>
                </a:solidFill>
                <a:latin typeface="맑은 고딕"/>
                <a:ea typeface="맑은 고딕"/>
              </a:rPr>
              <a:t>inventory-agent가 새벽에 정리해둔 재고표를 확인만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432304"/>
            <a:ext cx="10543032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2432304"/>
            <a:ext cx="86868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1" i="0">
                <a:solidFill>
                  <a:srgbClr val="5B3DF0"/>
                </a:solidFill>
                <a:latin typeface="Consolas"/>
                <a:ea typeface="Consolas"/>
              </a:rPr>
              <a:t>07:00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2432304"/>
            <a:ext cx="416052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201A29"/>
                </a:solidFill>
                <a:latin typeface="맑은 고딕"/>
                <a:ea typeface="맑은 고딕"/>
              </a:rPr>
              <a:t>라떼 만들며 예약 전화 받다 두 통을 놓침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432304"/>
            <a:ext cx="525780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201A29"/>
                </a:solidFill>
                <a:latin typeface="맑은 고딕"/>
                <a:ea typeface="맑은 고딕"/>
              </a:rPr>
              <a:t>reservation-agent가 접수 즉시 예약 등록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2830068"/>
            <a:ext cx="10543032" cy="397764"/>
          </a:xfrm>
          <a:prstGeom prst="rect">
            <a:avLst/>
          </a:prstGeom>
          <a:solidFill>
            <a:srgbClr val="FA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30068"/>
            <a:ext cx="86868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1" i="0">
                <a:solidFill>
                  <a:srgbClr val="A13A24"/>
                </a:solidFill>
                <a:latin typeface="Consolas"/>
                <a:ea typeface="Consolas"/>
              </a:rPr>
              <a:t>09:10</a:t>
            </a:r>
          </a:p>
          <a:p>
            <a:r>
              <a:rPr sz="750" b="1" i="0">
                <a:solidFill>
                  <a:srgbClr val="A13A24"/>
                </a:solidFill>
                <a:latin typeface="맑은 고딕"/>
                <a:ea typeface="맑은 고딕"/>
              </a:rPr>
              <a:t>승인 필요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2830068"/>
            <a:ext cx="416052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201A29"/>
                </a:solidFill>
                <a:latin typeface="맑은 고딕"/>
                <a:ea typeface="맑은 고딕"/>
              </a:rPr>
              <a:t>손님 뜸한 틈에 공급사 두 곳에 직접 전화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830068"/>
            <a:ext cx="525780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201A29"/>
                </a:solidFill>
                <a:latin typeface="맑은 고딕"/>
                <a:ea typeface="맑은 고딕"/>
              </a:rPr>
              <a:t>inventory-agent가 발주 초안 작성 — 15만원 초과는 승인 대기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3227832"/>
            <a:ext cx="10543032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3227832"/>
            <a:ext cx="86868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1" i="0">
                <a:solidFill>
                  <a:srgbClr val="5B3DF0"/>
                </a:solidFill>
                <a:latin typeface="Consolas"/>
                <a:ea typeface="Consolas"/>
              </a:rPr>
              <a:t>11:20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3227832"/>
            <a:ext cx="416052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201A29"/>
                </a:solidFill>
                <a:latin typeface="맑은 고딕"/>
                <a:ea typeface="맑은 고딕"/>
              </a:rPr>
              <a:t>접객 중이라 30분 뒤에야 확인, 응답 지연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3227832"/>
            <a:ext cx="525780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201A29"/>
                </a:solidFill>
                <a:latin typeface="맑은 고딕"/>
                <a:ea typeface="맑은 고딕"/>
              </a:rPr>
              <a:t>customer-service-agent가 즉시 응답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3625596"/>
            <a:ext cx="10543032" cy="397764"/>
          </a:xfrm>
          <a:prstGeom prst="rect">
            <a:avLst/>
          </a:prstGeom>
          <a:solidFill>
            <a:srgbClr val="FA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3625596"/>
            <a:ext cx="86868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1" i="0">
                <a:solidFill>
                  <a:srgbClr val="A13A24"/>
                </a:solidFill>
                <a:latin typeface="Consolas"/>
                <a:ea typeface="Consolas"/>
              </a:rPr>
              <a:t>12:00</a:t>
            </a:r>
          </a:p>
          <a:p>
            <a:r>
              <a:rPr sz="750" b="1" i="0">
                <a:solidFill>
                  <a:srgbClr val="A13A24"/>
                </a:solidFill>
                <a:latin typeface="맑은 고딕"/>
                <a:ea typeface="맑은 고딕"/>
              </a:rPr>
              <a:t>승인 필요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3625596"/>
            <a:ext cx="416052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201A29"/>
                </a:solidFill>
                <a:latin typeface="맑은 고딕"/>
                <a:ea typeface="맑은 고딕"/>
              </a:rPr>
              <a:t>주문·결제·조리를 동시에 하다 결제 실수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3625596"/>
            <a:ext cx="525780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201A29"/>
                </a:solidFill>
                <a:latin typeface="맑은 고딕"/>
                <a:ea typeface="맑은 고딕"/>
              </a:rPr>
              <a:t>order-payment-agent가 결제 처리 — 환불·고액은 승인 대기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4023360"/>
            <a:ext cx="10543032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023360"/>
            <a:ext cx="86868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1" i="0">
                <a:solidFill>
                  <a:srgbClr val="5B3DF0"/>
                </a:solidFill>
                <a:latin typeface="Consolas"/>
                <a:ea typeface="Consolas"/>
              </a:rPr>
              <a:t>14:30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37360" y="4023360"/>
            <a:ext cx="416052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201A29"/>
                </a:solidFill>
                <a:latin typeface="맑은 고딕"/>
                <a:ea typeface="맑은 고딕"/>
              </a:rPr>
              <a:t>엑셀 정리하려다 손님 와서 밤으로 미룸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4023360"/>
            <a:ext cx="525780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201A29"/>
                </a:solidFill>
                <a:latin typeface="맑은 고딕"/>
                <a:ea typeface="맑은 고딕"/>
              </a:rPr>
              <a:t>sales-analytics-agent에 한 줄 질문으로 즉답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4421124"/>
            <a:ext cx="10543032" cy="397764"/>
          </a:xfrm>
          <a:prstGeom prst="rect">
            <a:avLst/>
          </a:prstGeom>
          <a:solidFill>
            <a:srgbClr val="FA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" y="4421124"/>
            <a:ext cx="86868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1" i="0">
                <a:solidFill>
                  <a:srgbClr val="A13A24"/>
                </a:solidFill>
                <a:latin typeface="Consolas"/>
                <a:ea typeface="Consolas"/>
              </a:rPr>
              <a:t>15:30</a:t>
            </a:r>
          </a:p>
          <a:p>
            <a:r>
              <a:rPr sz="750" b="1" i="0">
                <a:solidFill>
                  <a:srgbClr val="A13A24"/>
                </a:solidFill>
                <a:latin typeface="맑은 고딕"/>
                <a:ea typeface="맑은 고딕"/>
              </a:rPr>
              <a:t>승인 필요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37360" y="4421124"/>
            <a:ext cx="416052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201A29"/>
                </a:solidFill>
                <a:latin typeface="맑은 고딕"/>
                <a:ea typeface="맑은 고딕"/>
              </a:rPr>
              <a:t>문구 쓸 시간이 없어 이번 주도 SNS를 넘김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4421124"/>
            <a:ext cx="525780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201A29"/>
                </a:solidFill>
                <a:latin typeface="맑은 고딕"/>
                <a:ea typeface="맑은 고딕"/>
              </a:rPr>
              <a:t>marketing-crm-agent가 초안 작성 — 집행은 승인 필요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" y="4818888"/>
            <a:ext cx="10543032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6112" y="4818888"/>
            <a:ext cx="86868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1" i="0">
                <a:solidFill>
                  <a:srgbClr val="5B3DF0"/>
                </a:solidFill>
                <a:latin typeface="Consolas"/>
                <a:ea typeface="Consolas"/>
              </a:rPr>
              <a:t>17:10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37360" y="4818888"/>
            <a:ext cx="416052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201A29"/>
                </a:solidFill>
                <a:latin typeface="맑은 고딕"/>
                <a:ea typeface="맑은 고딕"/>
              </a:rPr>
              <a:t>사장님이 직접 사과, 감정적으로 소진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4818888"/>
            <a:ext cx="525780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201A29"/>
                </a:solidFill>
                <a:latin typeface="맑은 고딕"/>
                <a:ea typeface="맑은 고딕"/>
              </a:rPr>
              <a:t>customer-service-agent가 먼저 사과·재제조 안내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" y="5216652"/>
            <a:ext cx="10543032" cy="397764"/>
          </a:xfrm>
          <a:prstGeom prst="rect">
            <a:avLst/>
          </a:prstGeom>
          <a:solidFill>
            <a:srgbClr val="FA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6112" y="5216652"/>
            <a:ext cx="86868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1" i="0">
                <a:solidFill>
                  <a:srgbClr val="5B3DF0"/>
                </a:solidFill>
                <a:latin typeface="Consolas"/>
                <a:ea typeface="Consolas"/>
              </a:rPr>
              <a:t>19:40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37360" y="5216652"/>
            <a:ext cx="416052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201A29"/>
                </a:solidFill>
                <a:latin typeface="맑은 고딕"/>
                <a:ea typeface="맑은 고딕"/>
              </a:rPr>
              <a:t>POS·카드·현금을 손으로 대조, 안 맞으면 재확인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5216652"/>
            <a:ext cx="525780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201A29"/>
                </a:solidFill>
                <a:latin typeface="맑은 고딕"/>
                <a:ea typeface="맑은 고딕"/>
              </a:rPr>
              <a:t>정산은 POS에서 처리, 마감 리포트는 자동 정리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" y="5614416"/>
            <a:ext cx="10543032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6112" y="5614416"/>
            <a:ext cx="86868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1" i="0">
                <a:solidFill>
                  <a:srgbClr val="5B3DF0"/>
                </a:solidFill>
                <a:latin typeface="Consolas"/>
                <a:ea typeface="Consolas"/>
              </a:rPr>
              <a:t>21:00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37360" y="5614416"/>
            <a:ext cx="416052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201A29"/>
                </a:solidFill>
                <a:latin typeface="맑은 고딕"/>
                <a:ea typeface="맑은 고딕"/>
              </a:rPr>
              <a:t>내일 발주할 품목·수량을 수첩에 옮겨 적음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0" y="5614416"/>
            <a:ext cx="525780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201A29"/>
                </a:solidFill>
                <a:latin typeface="맑은 고딕"/>
                <a:ea typeface="맑은 고딕"/>
              </a:rPr>
              <a:t>coordinator가 다음날 브리핑 초안을 준비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" y="6012180"/>
            <a:ext cx="10543032" cy="397764"/>
          </a:xfrm>
          <a:prstGeom prst="rect">
            <a:avLst/>
          </a:prstGeom>
          <a:solidFill>
            <a:srgbClr val="FA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6112" y="6012180"/>
            <a:ext cx="86868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1" i="0">
                <a:solidFill>
                  <a:srgbClr val="5B3DF0"/>
                </a:solidFill>
                <a:latin typeface="Consolas"/>
                <a:ea typeface="Consolas"/>
              </a:rPr>
              <a:t>23:00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37360" y="6012180"/>
            <a:ext cx="416052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201A29"/>
                </a:solidFill>
                <a:latin typeface="맑은 고딕"/>
                <a:ea typeface="맑은 고딕"/>
              </a:rPr>
              <a:t>재고·놓친 문의를 계속 생각하다 늦게 잠듦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35040" y="6012180"/>
            <a:ext cx="525780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201A29"/>
                </a:solidFill>
                <a:latin typeface="맑은 고딕"/>
                <a:ea typeface="맑은 고딕"/>
              </a:rPr>
              <a:t>디스코드 승인 대기 3건만 확인하고 종료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2960" y="1325880"/>
            <a:ext cx="10543032" cy="5084064"/>
          </a:xfrm>
          <a:prstGeom prst="rect">
            <a:avLst/>
          </a:prstGeom>
          <a:noFill/>
          <a:ln w="9525">
            <a:solidFill>
              <a:srgbClr val="E2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" y="653796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6F6580"/>
                </a:solidFill>
                <a:latin typeface="맑은 고딕"/>
                <a:ea typeface="맑은 고딕"/>
              </a:rPr>
              <a:t>마니카페 · 사장님의 하루 — 기존 방식 vs AI 에이전트 방식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155680" y="6537960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F6580"/>
                </a:solidFill>
                <a:latin typeface="맑은 고딕"/>
                <a:ea typeface="맑은 고딕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4527D1"/>
                </a:solidFill>
                <a:latin typeface="맑은 고딕"/>
                <a:ea typeface="맑은 고딕"/>
              </a:rPr>
              <a:t>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 i="0">
                <a:solidFill>
                  <a:srgbClr val="201A29"/>
                </a:solidFill>
                <a:latin typeface="맑은 고딕"/>
                <a:ea typeface="맑은 고딕"/>
              </a:rPr>
              <a:t>같은 하루, 다른 부담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34440"/>
            <a:ext cx="10515600" cy="1417320"/>
          </a:xfrm>
          <a:prstGeom prst="roundRect">
            <a:avLst>
              <a:gd name="adj" fmla="val 6000"/>
            </a:avLst>
          </a:prstGeom>
          <a:solidFill>
            <a:srgbClr val="EC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17320"/>
            <a:ext cx="996696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0" i="0">
                <a:solidFill>
                  <a:srgbClr val="201A29"/>
                </a:solidFill>
                <a:latin typeface="맑은 고딕"/>
                <a:ea typeface="맑은 고딕"/>
              </a:rPr>
              <a:t>기존 방식에서는 사장님이 12개 접점 모두를 직접 처리합니다. AI 에이전트 방식에서는 같은 12개 접점 중 9곳을 coordinator와 6개 전담 에이전트가 먼저 처리해두고, 돈이 오가거나 손님에게 나가는 3곳만 사장님의 최종 승인을 거칩니다. 자동화가 결정권을 가져가는 게 아니라, 결정에 이르기까지의 반복 노동만 덜어냅니다.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6F6580"/>
                </a:solidFill>
                <a:latin typeface="맑은 고딕"/>
                <a:ea typeface="맑은 고딕"/>
              </a:rPr>
              <a:t>coordinator + 6개 전담 에이전트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91840"/>
            <a:ext cx="2487168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91840"/>
            <a:ext cx="2487168" cy="457200"/>
          </a:xfrm>
          <a:prstGeom prst="rect">
            <a:avLst/>
          </a:prstGeom>
          <a:noFill/>
        </p:spPr>
        <p:txBody>
          <a:bodyPr wrap="square" anchor="ctr" lIns="128016" rIns="0" tIns="0" bIns="0">
            <a:spAutoFit/>
          </a:bodyPr>
          <a:lstStyle/>
          <a:p>
            <a:pPr algn="ctr"/>
            <a:r>
              <a:rPr sz="1050" b="1" i="0">
                <a:solidFill>
                  <a:srgbClr val="5B3DF0"/>
                </a:solidFill>
                <a:latin typeface="Consolas"/>
                <a:ea typeface="Consolas"/>
              </a:rPr>
              <a:t>coordinator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3291840"/>
            <a:ext cx="2487168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3291840"/>
            <a:ext cx="2487168" cy="457200"/>
          </a:xfrm>
          <a:prstGeom prst="rect">
            <a:avLst/>
          </a:prstGeom>
          <a:noFill/>
        </p:spPr>
        <p:txBody>
          <a:bodyPr wrap="square" anchor="ctr" lIns="128016" rIns="0" tIns="0" bIns="0">
            <a:spAutoFit/>
          </a:bodyPr>
          <a:lstStyle/>
          <a:p>
            <a:pPr algn="ctr"/>
            <a:r>
              <a:rPr sz="1050" b="1" i="0">
                <a:solidFill>
                  <a:srgbClr val="5B3DF0"/>
                </a:solidFill>
                <a:latin typeface="Consolas"/>
                <a:ea typeface="Consolas"/>
              </a:rPr>
              <a:t>order-payment-agent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3291840"/>
            <a:ext cx="2487168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291840"/>
            <a:ext cx="2487168" cy="457200"/>
          </a:xfrm>
          <a:prstGeom prst="rect">
            <a:avLst/>
          </a:prstGeom>
          <a:noFill/>
        </p:spPr>
        <p:txBody>
          <a:bodyPr wrap="square" anchor="ctr" lIns="128016" rIns="0" tIns="0" bIns="0">
            <a:spAutoFit/>
          </a:bodyPr>
          <a:lstStyle/>
          <a:p>
            <a:pPr algn="ctr"/>
            <a:r>
              <a:rPr sz="1050" b="1" i="0">
                <a:solidFill>
                  <a:srgbClr val="5B3DF0"/>
                </a:solidFill>
                <a:latin typeface="Consolas"/>
                <a:ea typeface="Consolas"/>
              </a:rPr>
              <a:t>inventory-agent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3291840"/>
            <a:ext cx="2487168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3291840"/>
            <a:ext cx="2487168" cy="457200"/>
          </a:xfrm>
          <a:prstGeom prst="rect">
            <a:avLst/>
          </a:prstGeom>
          <a:noFill/>
        </p:spPr>
        <p:txBody>
          <a:bodyPr wrap="square" anchor="ctr" lIns="128016" rIns="0" tIns="0" bIns="0">
            <a:spAutoFit/>
          </a:bodyPr>
          <a:lstStyle/>
          <a:p>
            <a:pPr algn="ctr"/>
            <a:r>
              <a:rPr sz="1050" b="1" i="0">
                <a:solidFill>
                  <a:srgbClr val="5B3DF0"/>
                </a:solidFill>
                <a:latin typeface="Consolas"/>
                <a:ea typeface="Consolas"/>
              </a:rPr>
              <a:t>reservation-agent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858768"/>
            <a:ext cx="2487168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858768"/>
            <a:ext cx="2487168" cy="457200"/>
          </a:xfrm>
          <a:prstGeom prst="rect">
            <a:avLst/>
          </a:prstGeom>
          <a:noFill/>
        </p:spPr>
        <p:txBody>
          <a:bodyPr wrap="square" anchor="ctr" lIns="128016" rIns="0" tIns="0" bIns="0">
            <a:spAutoFit/>
          </a:bodyPr>
          <a:lstStyle/>
          <a:p>
            <a:pPr algn="ctr"/>
            <a:r>
              <a:rPr sz="1050" b="1" i="0">
                <a:solidFill>
                  <a:srgbClr val="5B3DF0"/>
                </a:solidFill>
                <a:latin typeface="Consolas"/>
                <a:ea typeface="Consolas"/>
              </a:rPr>
              <a:t>customer-service-agent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3858768"/>
            <a:ext cx="2487168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3858768"/>
            <a:ext cx="2487168" cy="457200"/>
          </a:xfrm>
          <a:prstGeom prst="rect">
            <a:avLst/>
          </a:prstGeom>
          <a:noFill/>
        </p:spPr>
        <p:txBody>
          <a:bodyPr wrap="square" anchor="ctr" lIns="128016" rIns="0" tIns="0" bIns="0">
            <a:spAutoFit/>
          </a:bodyPr>
          <a:lstStyle/>
          <a:p>
            <a:pPr algn="ctr"/>
            <a:r>
              <a:rPr sz="1050" b="1" i="0">
                <a:solidFill>
                  <a:srgbClr val="5B3DF0"/>
                </a:solidFill>
                <a:latin typeface="Consolas"/>
                <a:ea typeface="Consolas"/>
              </a:rPr>
              <a:t>sales-analytics-agent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3858768"/>
            <a:ext cx="2487168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3858768"/>
            <a:ext cx="2487168" cy="457200"/>
          </a:xfrm>
          <a:prstGeom prst="rect">
            <a:avLst/>
          </a:prstGeom>
          <a:noFill/>
        </p:spPr>
        <p:txBody>
          <a:bodyPr wrap="square" anchor="ctr" lIns="128016" rIns="0" tIns="0" bIns="0">
            <a:spAutoFit/>
          </a:bodyPr>
          <a:lstStyle/>
          <a:p>
            <a:pPr algn="ctr"/>
            <a:r>
              <a:rPr sz="1050" b="1" i="0">
                <a:solidFill>
                  <a:srgbClr val="5B3DF0"/>
                </a:solidFill>
                <a:latin typeface="Consolas"/>
                <a:ea typeface="Consolas"/>
              </a:rPr>
              <a:t>marketing-crm-agent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892040"/>
            <a:ext cx="10515600" cy="1234440"/>
          </a:xfrm>
          <a:prstGeom prst="roundRect">
            <a:avLst>
              <a:gd name="adj" fmla="val 6000"/>
            </a:avLst>
          </a:prstGeom>
          <a:solidFill>
            <a:srgbClr val="DF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892040"/>
            <a:ext cx="996696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200" b="1" i="1">
                <a:solidFill>
                  <a:srgbClr val="1F6E4F"/>
                </a:solidFill>
                <a:latin typeface="맑은 고딕"/>
                <a:ea typeface="맑은 고딕"/>
              </a:rPr>
              <a:t>“</a:t>
            </a:r>
            <a:r>
              <a:rPr sz="1600" b="1" i="1">
                <a:solidFill>
                  <a:srgbClr val="201A29"/>
                </a:solidFill>
                <a:latin typeface="맑은 고딕"/>
                <a:ea typeface="맑은 고딕"/>
              </a:rPr>
              <a:t>결정권은 그대로 사장님에게, 반복 노동만 에이전트에게.”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3796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6F6580"/>
                </a:solidFill>
                <a:latin typeface="맑은 고딕"/>
                <a:ea typeface="맑은 고딕"/>
              </a:rPr>
              <a:t>마니카페 · 사장님의 하루 — 기존 방식 vs AI 에이전트 방식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37960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F6580"/>
                </a:solidFill>
                <a:latin typeface="맑은 고딕"/>
                <a:ea typeface="맑은 고딕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